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1453" r:id="rId3"/>
    <p:sldId id="1449" r:id="rId5"/>
    <p:sldId id="1459" r:id="rId6"/>
    <p:sldId id="1461" r:id="rId7"/>
    <p:sldId id="1460" r:id="rId8"/>
    <p:sldId id="1463" r:id="rId9"/>
    <p:sldId id="1465" r:id="rId10"/>
    <p:sldId id="1466" r:id="rId11"/>
    <p:sldId id="1467" r:id="rId12"/>
    <p:sldId id="1457" r:id="rId13"/>
  </p:sldIdLst>
  <p:sldSz cx="12192000" cy="6858000"/>
  <p:notesSz cx="6814820" cy="9947275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9" userDrawn="1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F1F1F1"/>
    <a:srgbClr val="FFFFFF"/>
    <a:srgbClr val="00688E"/>
    <a:srgbClr val="C00000"/>
    <a:srgbClr val="FEC202"/>
    <a:srgbClr val="378AA9"/>
    <a:srgbClr val="C20002"/>
    <a:srgbClr val="F70808"/>
    <a:srgbClr val="D60C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80" d="100"/>
          <a:sy n="80" d="100"/>
        </p:scale>
        <p:origin x="754" y="67"/>
      </p:cViewPr>
      <p:guideLst>
        <p:guide orient="horz" pos="2089"/>
        <p:guide pos="37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58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3226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60335" y="0"/>
            <a:ext cx="2953226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8185"/>
            <a:ext cx="2953226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60335" y="9448185"/>
            <a:ext cx="2953226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3226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60335" y="0"/>
            <a:ext cx="2953226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4BA2F-0DC3-4F24-B028-88A69E9F7C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7412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1514" y="4787126"/>
            <a:ext cx="545211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53226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60335" y="9448185"/>
            <a:ext cx="2953226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74615-EF7A-4805-B8C6-2C537751C1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2021/12/05晚上22:00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AD7D05-A75E-44FC-8F4B-EF51C24CE8F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2021/12/05晚上22:00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AD7D05-A75E-44FC-8F4B-EF51C24CE8F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2021/12/05晚上22:00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AD7D05-A75E-44FC-8F4B-EF51C24CE8F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2021/12/05晚上22:00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AD7D05-A75E-44FC-8F4B-EF51C24CE8F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2021/12/05晚上22:00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AD7D05-A75E-44FC-8F4B-EF51C24CE8F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2021/12/05晚上22:00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AD7D05-A75E-44FC-8F4B-EF51C24CE8F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2021/12/05晚上22:00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AD7D05-A75E-44FC-8F4B-EF51C24CE8F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2021/12/05晚上22:00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AD7D05-A75E-44FC-8F4B-EF51C24CE8F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2021/12/05晚上22:00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AD7D05-A75E-44FC-8F4B-EF51C24CE8F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png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png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png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pn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png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png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江西铜业技术研究院有限公司横版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00" y="74295"/>
            <a:ext cx="4436745" cy="687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102231"/>
          <p:cNvSpPr/>
          <p:nvPr userDrawn="1">
            <p:custDataLst>
              <p:tags r:id="rId2"/>
            </p:custDataLst>
          </p:nvPr>
        </p:nvSpPr>
        <p:spPr>
          <a:xfrm>
            <a:off x="10280394" y="328043"/>
            <a:ext cx="14020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solidFill>
                  <a:srgbClr val="C0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方正黑体简体" panose="02000000000000000000" pitchFamily="2" charset="-122"/>
              </a:rPr>
              <a:t>基本情况</a:t>
            </a:r>
            <a:endParaRPr lang="zh-CN" altLang="en-US" sz="2400" dirty="0">
              <a:solidFill>
                <a:srgbClr val="C0000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方正黑体简体" panose="02000000000000000000" pitchFamily="2" charset="-122"/>
            </a:endParaRPr>
          </a:p>
        </p:txBody>
      </p:sp>
      <p:cxnSp>
        <p:nvCxnSpPr>
          <p:cNvPr id="10" name="PA-102232"/>
          <p:cNvCxnSpPr/>
          <p:nvPr userDrawn="1">
            <p:custDataLst>
              <p:tags r:id="rId3"/>
            </p:custDataLst>
          </p:nvPr>
        </p:nvCxnSpPr>
        <p:spPr>
          <a:xfrm flipV="1">
            <a:off x="943082" y="788926"/>
            <a:ext cx="10739755" cy="3175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</p:cxnSp>
      <p:sp>
        <p:nvSpPr>
          <p:cNvPr id="11" name="矩形 10"/>
          <p:cNvSpPr/>
          <p:nvPr userDrawn="1"/>
        </p:nvSpPr>
        <p:spPr>
          <a:xfrm>
            <a:off x="0" y="6777318"/>
            <a:ext cx="12192000" cy="10219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 descr="江西铜业技术研究院有限公司横版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200" y="74295"/>
            <a:ext cx="4436745" cy="687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A-102231"/>
          <p:cNvSpPr/>
          <p:nvPr userDrawn="1">
            <p:custDataLst>
              <p:tags r:id="rId2"/>
            </p:custDataLst>
          </p:nvPr>
        </p:nvSpPr>
        <p:spPr>
          <a:xfrm>
            <a:off x="10280394" y="283593"/>
            <a:ext cx="14020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solidFill>
                  <a:srgbClr val="C0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方正黑体简体" panose="02000000000000000000" pitchFamily="2" charset="-122"/>
              </a:rPr>
              <a:t>领导关怀</a:t>
            </a:r>
            <a:endParaRPr lang="zh-CN" altLang="en-US" sz="2400" dirty="0">
              <a:solidFill>
                <a:srgbClr val="C0000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方正黑体简体" panose="02000000000000000000" pitchFamily="2" charset="-122"/>
            </a:endParaRPr>
          </a:p>
        </p:txBody>
      </p:sp>
      <p:cxnSp>
        <p:nvCxnSpPr>
          <p:cNvPr id="17" name="PA-102232"/>
          <p:cNvCxnSpPr/>
          <p:nvPr userDrawn="1">
            <p:custDataLst>
              <p:tags r:id="rId3"/>
            </p:custDataLst>
          </p:nvPr>
        </p:nvCxnSpPr>
        <p:spPr>
          <a:xfrm>
            <a:off x="943082" y="782576"/>
            <a:ext cx="10739755" cy="635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</p:cxnSp>
      <p:sp>
        <p:nvSpPr>
          <p:cNvPr id="18" name="矩形 17"/>
          <p:cNvSpPr/>
          <p:nvPr userDrawn="1"/>
        </p:nvSpPr>
        <p:spPr>
          <a:xfrm>
            <a:off x="0" y="6777318"/>
            <a:ext cx="12192000" cy="10219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 descr="江西铜业技术研究院有限公司横版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200" y="74295"/>
            <a:ext cx="4436745" cy="687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A-102231"/>
          <p:cNvSpPr/>
          <p:nvPr userDrawn="1">
            <p:custDataLst>
              <p:tags r:id="rId2"/>
            </p:custDataLst>
          </p:nvPr>
        </p:nvSpPr>
        <p:spPr>
          <a:xfrm>
            <a:off x="10280394" y="328043"/>
            <a:ext cx="14020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solidFill>
                  <a:srgbClr val="C0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方正黑体简体" panose="02000000000000000000" pitchFamily="2" charset="-122"/>
              </a:rPr>
              <a:t>运行机制</a:t>
            </a:r>
            <a:endParaRPr lang="zh-CN" altLang="en-US" sz="2400" dirty="0">
              <a:solidFill>
                <a:srgbClr val="C0000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方正黑体简体" panose="02000000000000000000" pitchFamily="2" charset="-122"/>
            </a:endParaRPr>
          </a:p>
        </p:txBody>
      </p:sp>
      <p:cxnSp>
        <p:nvCxnSpPr>
          <p:cNvPr id="17" name="PA-102232"/>
          <p:cNvCxnSpPr/>
          <p:nvPr userDrawn="1">
            <p:custDataLst>
              <p:tags r:id="rId3"/>
            </p:custDataLst>
          </p:nvPr>
        </p:nvCxnSpPr>
        <p:spPr>
          <a:xfrm>
            <a:off x="962132" y="773051"/>
            <a:ext cx="10720705" cy="15875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</p:cxnSp>
      <p:sp>
        <p:nvSpPr>
          <p:cNvPr id="18" name="矩形 17"/>
          <p:cNvSpPr/>
          <p:nvPr userDrawn="1"/>
        </p:nvSpPr>
        <p:spPr>
          <a:xfrm>
            <a:off x="0" y="6777318"/>
            <a:ext cx="12192000" cy="10219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 descr="江西铜业技术研究院有限公司横版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200" y="74295"/>
            <a:ext cx="4436745" cy="687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A-102231"/>
          <p:cNvSpPr/>
          <p:nvPr userDrawn="1">
            <p:custDataLst>
              <p:tags r:id="rId2"/>
            </p:custDataLst>
          </p:nvPr>
        </p:nvSpPr>
        <p:spPr>
          <a:xfrm>
            <a:off x="8146794" y="328043"/>
            <a:ext cx="35356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solidFill>
                  <a:srgbClr val="C0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方正黑体简体" panose="02000000000000000000" pitchFamily="2" charset="-122"/>
              </a:rPr>
              <a:t>领军人才、博士硕士队伍</a:t>
            </a:r>
            <a:endParaRPr lang="zh-CN" altLang="en-US" sz="2400" dirty="0">
              <a:solidFill>
                <a:srgbClr val="C0000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方正黑体简体" panose="02000000000000000000" pitchFamily="2" charset="-122"/>
            </a:endParaRPr>
          </a:p>
        </p:txBody>
      </p:sp>
      <p:cxnSp>
        <p:nvCxnSpPr>
          <p:cNvPr id="17" name="PA-102232"/>
          <p:cNvCxnSpPr/>
          <p:nvPr userDrawn="1">
            <p:custDataLst>
              <p:tags r:id="rId3"/>
            </p:custDataLst>
          </p:nvPr>
        </p:nvCxnSpPr>
        <p:spPr>
          <a:xfrm>
            <a:off x="962132" y="782576"/>
            <a:ext cx="10720705" cy="635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</p:cxnSp>
      <p:sp>
        <p:nvSpPr>
          <p:cNvPr id="18" name="矩形 17"/>
          <p:cNvSpPr/>
          <p:nvPr userDrawn="1"/>
        </p:nvSpPr>
        <p:spPr>
          <a:xfrm>
            <a:off x="0" y="6777318"/>
            <a:ext cx="12192000" cy="10219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 descr="江西铜业技术研究院有限公司横版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200" y="74295"/>
            <a:ext cx="4436745" cy="687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A-102231"/>
          <p:cNvSpPr/>
          <p:nvPr userDrawn="1">
            <p:custDataLst>
              <p:tags r:id="rId2"/>
            </p:custDataLst>
          </p:nvPr>
        </p:nvSpPr>
        <p:spPr>
          <a:xfrm>
            <a:off x="10280394" y="328043"/>
            <a:ext cx="14020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solidFill>
                  <a:srgbClr val="C0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方正黑体简体" panose="02000000000000000000" pitchFamily="2" charset="-122"/>
              </a:rPr>
              <a:t>设施建设</a:t>
            </a:r>
            <a:endParaRPr lang="zh-CN" altLang="en-US" sz="2400" dirty="0">
              <a:solidFill>
                <a:srgbClr val="C0000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方正黑体简体" panose="02000000000000000000" pitchFamily="2" charset="-122"/>
            </a:endParaRPr>
          </a:p>
        </p:txBody>
      </p:sp>
      <p:cxnSp>
        <p:nvCxnSpPr>
          <p:cNvPr id="17" name="PA-102232"/>
          <p:cNvCxnSpPr/>
          <p:nvPr userDrawn="1">
            <p:custDataLst>
              <p:tags r:id="rId3"/>
            </p:custDataLst>
          </p:nvPr>
        </p:nvCxnSpPr>
        <p:spPr>
          <a:xfrm flipV="1">
            <a:off x="952607" y="788926"/>
            <a:ext cx="10730230" cy="12700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</p:cxnSp>
      <p:sp>
        <p:nvSpPr>
          <p:cNvPr id="18" name="矩形 17"/>
          <p:cNvSpPr/>
          <p:nvPr userDrawn="1"/>
        </p:nvSpPr>
        <p:spPr>
          <a:xfrm>
            <a:off x="0" y="6777318"/>
            <a:ext cx="12192000" cy="10219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 descr="江西铜业技术研究院有限公司横版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200" y="74295"/>
            <a:ext cx="4436745" cy="687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A-102231"/>
          <p:cNvSpPr/>
          <p:nvPr userDrawn="1">
            <p:custDataLst>
              <p:tags r:id="rId2"/>
            </p:custDataLst>
          </p:nvPr>
        </p:nvSpPr>
        <p:spPr>
          <a:xfrm>
            <a:off x="10280394" y="328043"/>
            <a:ext cx="14020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solidFill>
                  <a:srgbClr val="C0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方正黑体简体" panose="02000000000000000000" pitchFamily="2" charset="-122"/>
              </a:rPr>
              <a:t>主要成果</a:t>
            </a:r>
            <a:endParaRPr lang="zh-CN" altLang="en-US" sz="2400" dirty="0">
              <a:solidFill>
                <a:srgbClr val="C0000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方正黑体简体" panose="02000000000000000000" pitchFamily="2" charset="-122"/>
            </a:endParaRPr>
          </a:p>
        </p:txBody>
      </p:sp>
      <p:cxnSp>
        <p:nvCxnSpPr>
          <p:cNvPr id="17" name="PA-102232"/>
          <p:cNvCxnSpPr/>
          <p:nvPr userDrawn="1">
            <p:custDataLst>
              <p:tags r:id="rId3"/>
            </p:custDataLst>
          </p:nvPr>
        </p:nvCxnSpPr>
        <p:spPr>
          <a:xfrm flipV="1">
            <a:off x="962132" y="788926"/>
            <a:ext cx="10720705" cy="3175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</p:cxnSp>
      <p:sp>
        <p:nvSpPr>
          <p:cNvPr id="18" name="矩形 17"/>
          <p:cNvSpPr/>
          <p:nvPr userDrawn="1"/>
        </p:nvSpPr>
        <p:spPr>
          <a:xfrm>
            <a:off x="0" y="6777318"/>
            <a:ext cx="12192000" cy="10219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 descr="江西铜业技术研究院有限公司横版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200" y="74295"/>
            <a:ext cx="4436745" cy="687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A-102231"/>
          <p:cNvSpPr/>
          <p:nvPr userDrawn="1">
            <p:custDataLst>
              <p:tags r:id="rId2"/>
            </p:custDataLst>
          </p:nvPr>
        </p:nvSpPr>
        <p:spPr>
          <a:xfrm>
            <a:off x="8451594" y="328043"/>
            <a:ext cx="32308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solidFill>
                  <a:srgbClr val="C0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方正黑体简体" panose="02000000000000000000" pitchFamily="2" charset="-122"/>
              </a:rPr>
              <a:t>党费收缴、使用和管理</a:t>
            </a:r>
            <a:endParaRPr lang="zh-CN" altLang="en-US" sz="2400" dirty="0">
              <a:solidFill>
                <a:srgbClr val="C0000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方正黑体简体" panose="02000000000000000000" pitchFamily="2" charset="-122"/>
            </a:endParaRPr>
          </a:p>
        </p:txBody>
      </p:sp>
      <p:cxnSp>
        <p:nvCxnSpPr>
          <p:cNvPr id="17" name="PA-102232"/>
          <p:cNvCxnSpPr/>
          <p:nvPr userDrawn="1">
            <p:custDataLst>
              <p:tags r:id="rId3"/>
            </p:custDataLst>
          </p:nvPr>
        </p:nvCxnSpPr>
        <p:spPr>
          <a:xfrm flipV="1">
            <a:off x="990707" y="788926"/>
            <a:ext cx="10692130" cy="3175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</p:cxnSp>
      <p:sp>
        <p:nvSpPr>
          <p:cNvPr id="18" name="矩形 17"/>
          <p:cNvSpPr/>
          <p:nvPr userDrawn="1"/>
        </p:nvSpPr>
        <p:spPr>
          <a:xfrm>
            <a:off x="0" y="6777318"/>
            <a:ext cx="12192000" cy="10219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 descr="江西铜业技术研究院有限公司横版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200" y="74295"/>
            <a:ext cx="4436745" cy="687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B8C206A-AF1C-4733-80DB-85B8F42453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2D2E2B-C39F-4B55-9BEA-72593C06F1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8"/>
            </p:custDataLst>
          </p:nvPr>
        </p:nvSpPr>
        <p:spPr>
          <a:xfrm>
            <a:off x="6604000" y="3651568"/>
            <a:ext cx="4826000" cy="1111250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l" rtl="0" eaLnBrk="1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None/>
              <a:defRPr sz="1800" b="0" spc="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18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9"/>
            </p:custDataLst>
          </p:nvPr>
        </p:nvSpPr>
        <p:spPr>
          <a:xfrm>
            <a:off x="6604000" y="2095183"/>
            <a:ext cx="4825365" cy="1351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6600" b="0" spc="700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29.xml"/><Relationship Id="rId2" Type="http://schemas.openxmlformats.org/officeDocument/2006/relationships/image" Target="../media/image1.png"/><Relationship Id="rId1" Type="http://schemas.openxmlformats.org/officeDocument/2006/relationships/tags" Target="../tags/tag2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tags" Target="../tags/tag3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32.xml"/><Relationship Id="rId10" Type="http://schemas.openxmlformats.org/officeDocument/2006/relationships/image" Target="../media/image10.png"/><Relationship Id="rId1" Type="http://schemas.openxmlformats.org/officeDocument/2006/relationships/tags" Target="../tags/tag3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3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jpeg"/><Relationship Id="rId8" Type="http://schemas.openxmlformats.org/officeDocument/2006/relationships/image" Target="../media/image22.png"/><Relationship Id="rId7" Type="http://schemas.openxmlformats.org/officeDocument/2006/relationships/image" Target="../media/image21.jpe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38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tags" Target="../tags/tag44.xml"/><Relationship Id="rId7" Type="http://schemas.openxmlformats.org/officeDocument/2006/relationships/image" Target="../media/image27.png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0" Type="http://schemas.openxmlformats.org/officeDocument/2006/relationships/notesSlide" Target="../notesSlides/notesSlide6.xml"/><Relationship Id="rId2" Type="http://schemas.openxmlformats.org/officeDocument/2006/relationships/image" Target="../media/image1.png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46.xml"/><Relationship Id="rId17" Type="http://schemas.openxmlformats.org/officeDocument/2006/relationships/image" Target="../media/image35.png"/><Relationship Id="rId16" Type="http://schemas.openxmlformats.org/officeDocument/2006/relationships/image" Target="../media/image34.png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tags" Target="../tags/tag45.xml"/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" Type="http://schemas.openxmlformats.org/officeDocument/2006/relationships/tags" Target="../tags/tag3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tags" Target="../tags/tag4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51.xml"/><Relationship Id="rId2" Type="http://schemas.openxmlformats.org/officeDocument/2006/relationships/image" Target="../media/image1.png"/><Relationship Id="rId1" Type="http://schemas.openxmlformats.org/officeDocument/2006/relationships/tags" Target="../tags/tag50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image" Target="../media/image1.png"/><Relationship Id="rId1" Type="http://schemas.openxmlformats.org/officeDocument/2006/relationships/tags" Target="../tags/tag5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57.xml"/><Relationship Id="rId3" Type="http://schemas.openxmlformats.org/officeDocument/2006/relationships/image" Target="../media/image1.png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21521" y="515536"/>
            <a:ext cx="10041255" cy="49441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just" fontAlgn="auto">
              <a:lnSpc>
                <a:spcPct val="150000"/>
              </a:lnSpc>
              <a:buClr>
                <a:srgbClr val="B00000"/>
              </a:buClr>
            </a:pPr>
            <a:r>
              <a:rPr lang="zh-CN" altLang="en-US" sz="28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zh-CN" altLang="en-US" sz="28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 fontAlgn="auto">
              <a:lnSpc>
                <a:spcPct val="150000"/>
              </a:lnSpc>
              <a:buClr>
                <a:srgbClr val="B00000"/>
              </a:buClr>
            </a:pPr>
            <a:endParaRPr lang="zh-CN" altLang="en-US" sz="28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 fontAlgn="auto">
              <a:lnSpc>
                <a:spcPct val="150000"/>
              </a:lnSpc>
              <a:buClr>
                <a:srgbClr val="B00000"/>
              </a:buClr>
            </a:pPr>
            <a:r>
              <a:rPr lang="zh-CN" altLang="en-US" sz="28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8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《</a:t>
            </a:r>
            <a:r>
              <a:rPr lang="zh-CN" altLang="en-US" sz="28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基于多源融合特征与深度学习的千枚岩型含铜废石</a:t>
            </a:r>
            <a:endParaRPr lang="en-US" altLang="zh-CN" sz="2800" b="1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 fontAlgn="auto">
              <a:lnSpc>
                <a:spcPct val="150000"/>
              </a:lnSpc>
              <a:buClr>
                <a:srgbClr val="B00000"/>
              </a:buClr>
            </a:pPr>
            <a:r>
              <a:rPr lang="en-US" altLang="zh-CN" sz="28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   </a:t>
            </a:r>
            <a:r>
              <a:rPr lang="zh-CN" altLang="en-US" sz="28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高通量智能分选装备开发及应用研究</a:t>
            </a:r>
            <a:r>
              <a:rPr lang="en-US" altLang="zh-CN" sz="28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》</a:t>
            </a:r>
            <a:endParaRPr lang="en-US" altLang="zh-CN" sz="28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 fontAlgn="auto">
              <a:lnSpc>
                <a:spcPct val="150000"/>
              </a:lnSpc>
              <a:buClr>
                <a:srgbClr val="B00000"/>
              </a:buClr>
            </a:pPr>
            <a:endParaRPr lang="en-US" altLang="zh-CN" sz="28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 fontAlgn="auto">
              <a:lnSpc>
                <a:spcPct val="150000"/>
              </a:lnSpc>
              <a:buClr>
                <a:srgbClr val="B00000"/>
              </a:buClr>
            </a:pPr>
            <a:r>
              <a:rPr lang="en-US" altLang="zh-CN" sz="28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        </a:t>
            </a:r>
            <a:r>
              <a:rPr lang="en-US" altLang="zh-CN" sz="28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                         </a:t>
            </a:r>
            <a:r>
              <a:rPr lang="zh-CN" altLang="en-US" sz="28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汇报人</a:t>
            </a:r>
            <a:r>
              <a:rPr lang="en-US" altLang="zh-CN" sz="28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:</a:t>
            </a:r>
            <a:r>
              <a:rPr lang="zh-CN" altLang="en-US" sz="2800" b="1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严昊</a:t>
            </a:r>
            <a:endParaRPr lang="zh-CN" altLang="en-US" sz="28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 fontAlgn="auto">
              <a:lnSpc>
                <a:spcPct val="150000"/>
              </a:lnSpc>
              <a:buClr>
                <a:srgbClr val="B00000"/>
              </a:buClr>
            </a:pPr>
            <a:endParaRPr lang="zh-CN" altLang="en-US" sz="28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" name="图片 3" descr="江西铜业技术研究院有限公司横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24370" y="5871210"/>
            <a:ext cx="4913630" cy="7613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82"/>
            <a:ext cx="12192000" cy="63291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0" y="85725"/>
            <a:ext cx="121920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一、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背景</a:t>
            </a:r>
            <a:r>
              <a:rPr 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介绍</a:t>
            </a:r>
            <a:endParaRPr 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 descr="江西铜业技术研究院有限公司横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24370" y="5871210"/>
            <a:ext cx="4913630" cy="761365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-22815" y="644017"/>
            <a:ext cx="6401508" cy="2523292"/>
            <a:chOff x="-84924" y="867390"/>
            <a:chExt cx="6821041" cy="2312656"/>
          </a:xfrm>
        </p:grpSpPr>
        <p:sp>
          <p:nvSpPr>
            <p:cNvPr id="5" name="object 9"/>
            <p:cNvSpPr/>
            <p:nvPr/>
          </p:nvSpPr>
          <p:spPr>
            <a:xfrm>
              <a:off x="317079" y="1419766"/>
              <a:ext cx="6419038" cy="1481467"/>
            </a:xfrm>
            <a:prstGeom prst="rect">
              <a:avLst/>
            </a:prstGeom>
            <a:ln w="17999">
              <a:noFill/>
              <a:prstDash val="dash"/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-84924" y="1462752"/>
              <a:ext cx="2575398" cy="1164606"/>
              <a:chOff x="11617119" y="639132"/>
              <a:chExt cx="2575398" cy="1164606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11617119" y="1056994"/>
                <a:ext cx="2575398" cy="239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1100" b="1">
                    <a:solidFill>
                      <a:srgbClr val="1E21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      《</a:t>
                </a:r>
                <a:r>
                  <a:rPr lang="zh-CN" altLang="en-US" sz="1100" b="1">
                    <a:solidFill>
                      <a:srgbClr val="1E21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中华人民共和国矿产资源法</a:t>
                </a:r>
                <a:r>
                  <a:rPr lang="en-US" altLang="zh-CN" sz="1100" b="1">
                    <a:solidFill>
                      <a:srgbClr val="1E21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》</a:t>
                </a:r>
                <a:endParaRPr lang="zh-CN" altLang="en-US" sz="1100" b="1" dirty="0">
                  <a:solidFill>
                    <a:srgbClr val="1E21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grpSp>
            <p:nvGrpSpPr>
              <p:cNvPr id="9" name="组合 8"/>
              <p:cNvGrpSpPr/>
              <p:nvPr/>
            </p:nvGrpSpPr>
            <p:grpSpPr>
              <a:xfrm>
                <a:off x="12105390" y="639132"/>
                <a:ext cx="1972712" cy="1164606"/>
                <a:chOff x="12105390" y="639132"/>
                <a:chExt cx="1972712" cy="1164606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2105390" y="639132"/>
                  <a:ext cx="1972712" cy="1164606"/>
                </a:xfrm>
                <a:prstGeom prst="rect">
                  <a:avLst/>
                </a:prstGeom>
                <a:noFill/>
                <a:ln w="19050">
                  <a:solidFill>
                    <a:srgbClr val="3667C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12178870" y="1330429"/>
                  <a:ext cx="1745523" cy="2616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1050" b="1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保障国家</a:t>
                  </a:r>
                  <a:r>
                    <a:rPr lang="zh-CN" altLang="en-US" sz="1050" b="1" dirty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矿产资源安全</a:t>
                  </a:r>
                  <a:endParaRPr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  <p:pic>
              <p:nvPicPr>
                <p:cNvPr id="12" name="图片 11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157071" y="709435"/>
                  <a:ext cx="1848798" cy="29980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" name="组合 12"/>
            <p:cNvGrpSpPr/>
            <p:nvPr/>
          </p:nvGrpSpPr>
          <p:grpSpPr>
            <a:xfrm>
              <a:off x="2520949" y="1462751"/>
              <a:ext cx="1972712" cy="1164606"/>
              <a:chOff x="225856" y="4631652"/>
              <a:chExt cx="1972712" cy="1164606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376848" y="5307542"/>
                <a:ext cx="1646288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推动增储上产</a:t>
                </a:r>
                <a:r>
                  <a:rPr lang="zh-CN" altLang="en-US" sz="105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，提高开发利用保护水平</a:t>
                </a:r>
                <a:endPara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294" y="4665480"/>
                <a:ext cx="1902378" cy="430496"/>
              </a:xfrm>
              <a:prstGeom prst="rect">
                <a:avLst/>
              </a:prstGeom>
            </p:spPr>
          </p:pic>
          <p:sp>
            <p:nvSpPr>
              <p:cNvPr id="16" name="矩形 15"/>
              <p:cNvSpPr/>
              <p:nvPr/>
            </p:nvSpPr>
            <p:spPr>
              <a:xfrm>
                <a:off x="225856" y="4631652"/>
                <a:ext cx="1972712" cy="1164606"/>
              </a:xfrm>
              <a:prstGeom prst="rect">
                <a:avLst/>
              </a:prstGeom>
              <a:noFill/>
              <a:ln w="19050">
                <a:solidFill>
                  <a:srgbClr val="3667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556006" y="5053290"/>
                <a:ext cx="148375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1100" b="1" dirty="0">
                    <a:solidFill>
                      <a:srgbClr val="1E21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《</a:t>
                </a:r>
                <a:r>
                  <a:rPr lang="zh-CN" altLang="en-US" sz="1100" b="1" dirty="0">
                    <a:solidFill>
                      <a:srgbClr val="1E21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十五五规划</a:t>
                </a:r>
                <a:r>
                  <a:rPr lang="en-US" altLang="zh-CN" sz="1100" b="1" dirty="0">
                    <a:solidFill>
                      <a:srgbClr val="1E21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》</a:t>
                </a:r>
                <a:endParaRPr lang="zh-CN" altLang="en-US" sz="1100" b="1" dirty="0">
                  <a:solidFill>
                    <a:srgbClr val="1E21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4585231" y="1470373"/>
              <a:ext cx="2126904" cy="1173788"/>
              <a:chOff x="12039649" y="2940453"/>
              <a:chExt cx="2126904" cy="1173788"/>
            </a:xfrm>
          </p:grpSpPr>
          <p:pic>
            <p:nvPicPr>
              <p:cNvPr id="19" name="Picture 4" descr="自然资源部app下载-自然资源部政务服务门户v3.1.2官方安卓版-精品下载"/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492" b="28319"/>
              <a:stretch>
                <a:fillRect/>
              </a:stretch>
            </p:blipFill>
            <p:spPr bwMode="auto">
              <a:xfrm>
                <a:off x="12331048" y="2969543"/>
                <a:ext cx="1483155" cy="4186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文本框 19"/>
              <p:cNvSpPr txBox="1"/>
              <p:nvPr/>
            </p:nvSpPr>
            <p:spPr>
              <a:xfrm>
                <a:off x="12149573" y="3371782"/>
                <a:ext cx="1888222" cy="239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1100" b="1" dirty="0">
                    <a:solidFill>
                      <a:srgbClr val="1E21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《2026</a:t>
                </a:r>
                <a:r>
                  <a:rPr lang="zh-CN" altLang="en-US" sz="1100" b="1" dirty="0">
                    <a:solidFill>
                      <a:srgbClr val="1E21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年重点工作部署</a:t>
                </a:r>
                <a:r>
                  <a:rPr lang="en-US" altLang="zh-CN" sz="1100" b="1" dirty="0">
                    <a:solidFill>
                      <a:srgbClr val="1E21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》</a:t>
                </a:r>
                <a:endParaRPr lang="zh-CN" altLang="en-US" sz="1100" b="1" dirty="0">
                  <a:solidFill>
                    <a:srgbClr val="1E218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2039649" y="3600908"/>
                <a:ext cx="212690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支持矿山企业加快重要</a:t>
                </a:r>
                <a:r>
                  <a:rPr lang="zh-CN" altLang="en-US" sz="1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矿产增储上产</a:t>
                </a:r>
                <a:r>
                  <a:rPr lang="zh-CN" altLang="en-US" sz="1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，提高战略性</a:t>
                </a:r>
                <a:r>
                  <a:rPr lang="zh-CN" altLang="en-US" sz="1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资源供应保障</a:t>
                </a:r>
                <a:r>
                  <a:rPr lang="zh-CN" altLang="en-US" sz="1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能力</a:t>
                </a:r>
                <a:endPara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12087394" y="2940453"/>
                <a:ext cx="1972712" cy="1173788"/>
              </a:xfrm>
              <a:prstGeom prst="rect">
                <a:avLst/>
              </a:prstGeom>
              <a:noFill/>
              <a:ln w="19050">
                <a:solidFill>
                  <a:srgbClr val="3667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31764" y="867390"/>
              <a:ext cx="641903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n"/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矿产资源是工业血脉，其战略地位正日益凸显</a:t>
              </a:r>
              <a:endParaRPr lang="zh-CN" altLang="en-US" sz="2000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889669" y="2872269"/>
              <a:ext cx="56495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提升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矿产资源保障能力，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已成为国家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顶层战略的紧迫任务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箭头: 右 24"/>
            <p:cNvSpPr/>
            <p:nvPr>
              <p:custDataLst>
                <p:tags r:id="rId6"/>
              </p:custDataLst>
            </p:nvPr>
          </p:nvSpPr>
          <p:spPr>
            <a:xfrm>
              <a:off x="480324" y="2835209"/>
              <a:ext cx="530225" cy="330200"/>
            </a:xfrm>
            <a:prstGeom prst="rightArrow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77809" y="3284890"/>
            <a:ext cx="5978477" cy="3463503"/>
            <a:chOff x="371110" y="838977"/>
            <a:chExt cx="5978477" cy="3463503"/>
          </a:xfrm>
        </p:grpSpPr>
        <p:sp>
          <p:nvSpPr>
            <p:cNvPr id="28" name="文本框 27"/>
            <p:cNvSpPr txBox="1"/>
            <p:nvPr/>
          </p:nvSpPr>
          <p:spPr>
            <a:xfrm>
              <a:off x="2194489" y="2988866"/>
              <a:ext cx="2528984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5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入选品位降低，处理等量金属所需的</a:t>
              </a:r>
              <a:r>
                <a:rPr lang="zh-CN" altLang="en-US" sz="1050" b="1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矿石量激增</a:t>
              </a:r>
              <a:r>
                <a:rPr lang="zh-CN" altLang="en-US" sz="105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，设备利用率下降。</a:t>
              </a:r>
              <a:endPara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371110" y="838977"/>
              <a:ext cx="5978477" cy="3463503"/>
              <a:chOff x="371110" y="838977"/>
              <a:chExt cx="5978477" cy="3463503"/>
            </a:xfrm>
          </p:grpSpPr>
          <p:sp>
            <p:nvSpPr>
              <p:cNvPr id="30" name="文本框 29"/>
              <p:cNvSpPr txBox="1"/>
              <p:nvPr/>
            </p:nvSpPr>
            <p:spPr>
              <a:xfrm>
                <a:off x="371110" y="838977"/>
                <a:ext cx="5957538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n"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高品位易采资源枯竭，“贫、细、杂</a:t>
                </a:r>
                <a:r>
                  <a:rPr lang="zh-CN" altLang="en-US" sz="20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”矿石成为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新常态，开采成本激增</a:t>
                </a:r>
                <a:endParaRPr lang="zh-CN" altLang="en-US" sz="2000" dirty="0"/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2655507" y="1983301"/>
                <a:ext cx="838809" cy="682715"/>
                <a:chOff x="2180148" y="1718253"/>
                <a:chExt cx="838809" cy="682715"/>
              </a:xfrm>
            </p:grpSpPr>
            <p:sp>
              <p:nvSpPr>
                <p:cNvPr id="44" name="箭头: 右 43"/>
                <p:cNvSpPr/>
                <p:nvPr/>
              </p:nvSpPr>
              <p:spPr>
                <a:xfrm>
                  <a:off x="2256331" y="2180475"/>
                  <a:ext cx="762626" cy="220493"/>
                </a:xfrm>
                <a:prstGeom prst="rightArrow">
                  <a:avLst/>
                </a:prstGeom>
                <a:solidFill>
                  <a:srgbClr val="2F5597"/>
                </a:solidFill>
                <a:ln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文本框 44"/>
                <p:cNvSpPr txBox="1"/>
                <p:nvPr/>
              </p:nvSpPr>
              <p:spPr>
                <a:xfrm>
                  <a:off x="2180148" y="1718253"/>
                  <a:ext cx="762625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2700" algn="ctr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zh-CN" altLang="en-US" sz="1100" b="1" dirty="0">
                      <a:solidFill>
                        <a:srgbClr val="1E2188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资源禀赋恶化</a:t>
                  </a:r>
                  <a:endParaRPr lang="zh-CN" altLang="en-US" sz="1100" b="1" dirty="0">
                    <a:solidFill>
                      <a:srgbClr val="1E21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2" name="组合 31"/>
              <p:cNvGrpSpPr/>
              <p:nvPr/>
            </p:nvGrpSpPr>
            <p:grpSpPr>
              <a:xfrm>
                <a:off x="563049" y="1651071"/>
                <a:ext cx="1972712" cy="1113136"/>
                <a:chOff x="97656" y="1903019"/>
                <a:chExt cx="1972712" cy="1113136"/>
              </a:xfrm>
            </p:grpSpPr>
            <p:pic>
              <p:nvPicPr>
                <p:cNvPr id="42" name="图片 41"/>
                <p:cNvPicPr>
                  <a:picLocks noChangeAspect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605" t="-20" r="3046" b="10354"/>
                <a:stretch>
                  <a:fillRect/>
                </a:stretch>
              </p:blipFill>
              <p:spPr>
                <a:xfrm>
                  <a:off x="97656" y="1903019"/>
                  <a:ext cx="1972712" cy="1113136"/>
                </a:xfrm>
                <a:prstGeom prst="rect">
                  <a:avLst/>
                </a:prstGeom>
              </p:spPr>
            </p:pic>
            <p:sp>
              <p:nvSpPr>
                <p:cNvPr id="43" name="文本框 42"/>
                <p:cNvSpPr txBox="1"/>
                <p:nvPr/>
              </p:nvSpPr>
              <p:spPr>
                <a:xfrm>
                  <a:off x="111834" y="2011120"/>
                  <a:ext cx="130368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2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高品位易采矿石</a:t>
                  </a:r>
                  <a:endParaRPr lang="zh-CN" altLang="en-US" sz="12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3632184" y="1636036"/>
                <a:ext cx="2654996" cy="1108736"/>
                <a:chOff x="3164510" y="1843428"/>
                <a:chExt cx="2340825" cy="1108736"/>
              </a:xfrm>
            </p:grpSpPr>
            <p:pic>
              <p:nvPicPr>
                <p:cNvPr id="40" name="图片 39"/>
                <p:cNvPicPr>
                  <a:picLocks noChangeAspect="1"/>
                </p:cNvPicPr>
                <p:nvPr/>
              </p:nvPicPr>
              <p:blipFill rotWithShape="1"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70" t="28263" r="3413" b="12885"/>
                <a:stretch>
                  <a:fillRect/>
                </a:stretch>
              </p:blipFill>
              <p:spPr>
                <a:xfrm>
                  <a:off x="3164510" y="1843428"/>
                  <a:ext cx="2340825" cy="1108736"/>
                </a:xfrm>
                <a:prstGeom prst="rect">
                  <a:avLst/>
                </a:prstGeom>
              </p:spPr>
            </p:pic>
            <p:sp>
              <p:nvSpPr>
                <p:cNvPr id="41" name="文本框 40"/>
                <p:cNvSpPr txBox="1"/>
                <p:nvPr/>
              </p:nvSpPr>
              <p:spPr>
                <a:xfrm>
                  <a:off x="3204132" y="1928127"/>
                  <a:ext cx="130368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2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低品位难选矿石</a:t>
                  </a:r>
                  <a:endParaRPr lang="zh-CN" altLang="en-US" sz="12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4" name="组合 33"/>
              <p:cNvGrpSpPr/>
              <p:nvPr/>
            </p:nvGrpSpPr>
            <p:grpSpPr>
              <a:xfrm>
                <a:off x="4674091" y="2837370"/>
                <a:ext cx="1675496" cy="684201"/>
                <a:chOff x="-200147" y="2612743"/>
                <a:chExt cx="1675496" cy="684201"/>
              </a:xfrm>
            </p:grpSpPr>
            <p:sp>
              <p:nvSpPr>
                <p:cNvPr id="38" name="箭头: 右 37"/>
                <p:cNvSpPr/>
                <p:nvPr/>
              </p:nvSpPr>
              <p:spPr>
                <a:xfrm rot="9601875">
                  <a:off x="-200147" y="3076451"/>
                  <a:ext cx="762626" cy="220493"/>
                </a:xfrm>
                <a:prstGeom prst="rightArrow">
                  <a:avLst/>
                </a:prstGeom>
                <a:solidFill>
                  <a:srgbClr val="2F5597"/>
                </a:solidFill>
                <a:ln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文本框 38"/>
                <p:cNvSpPr txBox="1"/>
                <p:nvPr/>
              </p:nvSpPr>
              <p:spPr>
                <a:xfrm>
                  <a:off x="479721" y="2612743"/>
                  <a:ext cx="995628" cy="4437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2700" algn="ctr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zh-CN" altLang="en-US" sz="1100" b="1" dirty="0">
                      <a:solidFill>
                        <a:srgbClr val="1E2188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低品位矿石</a:t>
                  </a:r>
                  <a:endParaRPr lang="en-US" altLang="zh-CN" sz="1100" b="1" dirty="0">
                    <a:solidFill>
                      <a:srgbClr val="1E21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  <a:p>
                  <a:pPr marL="12700" algn="ctr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zh-CN" altLang="en-US" sz="1100" b="1" dirty="0">
                      <a:solidFill>
                        <a:srgbClr val="1E2188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导致</a:t>
                  </a:r>
                  <a:endParaRPr lang="zh-CN" altLang="en-US" sz="1100" b="1" dirty="0">
                    <a:solidFill>
                      <a:srgbClr val="1E21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5" name="圆角矩形 21"/>
              <p:cNvSpPr/>
              <p:nvPr/>
            </p:nvSpPr>
            <p:spPr>
              <a:xfrm>
                <a:off x="827083" y="2966293"/>
                <a:ext cx="1327395" cy="470448"/>
              </a:xfrm>
              <a:prstGeom prst="rect">
                <a:avLst/>
              </a:prstGeom>
              <a:solidFill>
                <a:srgbClr val="2F5597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效率低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圆角矩形 21"/>
              <p:cNvSpPr/>
              <p:nvPr/>
            </p:nvSpPr>
            <p:spPr>
              <a:xfrm>
                <a:off x="849775" y="3750266"/>
                <a:ext cx="1327395" cy="470448"/>
              </a:xfrm>
              <a:prstGeom prst="rect">
                <a:avLst/>
              </a:prstGeom>
              <a:solidFill>
                <a:srgbClr val="2F5597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成本高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2177170" y="3725399"/>
                <a:ext cx="2528984" cy="5770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05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废石混入率高，</a:t>
                </a:r>
                <a:r>
                  <a:rPr lang="zh-CN" altLang="en-US" sz="1050" b="1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单位矿石</a:t>
                </a:r>
                <a:r>
                  <a:rPr lang="zh-CN" altLang="en-US" sz="105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的破碎、磨矿、分选能耗与药剂</a:t>
                </a:r>
                <a:r>
                  <a:rPr lang="zh-CN" altLang="en-US" sz="1050" b="1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成本显著上升</a:t>
                </a:r>
                <a:r>
                  <a:rPr lang="zh-CN" altLang="en-US" sz="105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，经济效益受到严峻挑战。</a:t>
                </a:r>
                <a:endParaRPr lang="zh-CN" altLang="en-US" sz="105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6" name="文本框 45"/>
          <p:cNvSpPr txBox="1"/>
          <p:nvPr/>
        </p:nvSpPr>
        <p:spPr>
          <a:xfrm>
            <a:off x="6575513" y="634185"/>
            <a:ext cx="2540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绿色环保面临挑战</a:t>
            </a:r>
            <a:endParaRPr lang="zh-CN" altLang="en-US" sz="2000" dirty="0"/>
          </a:p>
        </p:txBody>
      </p:sp>
      <p:sp>
        <p:nvSpPr>
          <p:cNvPr id="47" name="Text 18"/>
          <p:cNvSpPr/>
          <p:nvPr/>
        </p:nvSpPr>
        <p:spPr>
          <a:xfrm>
            <a:off x="8847070" y="2472140"/>
            <a:ext cx="2908979" cy="34480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传统工艺在能耗、水耗、药剂使用及废物排放方面存在固有瓶颈，难以同时满足经济可行、资源高效与环境友好的多重目标。</a:t>
            </a:r>
            <a:endParaRPr lang="en-US" sz="1050" dirty="0"/>
          </a:p>
        </p:txBody>
      </p:sp>
      <p:sp>
        <p:nvSpPr>
          <p:cNvPr id="48" name="Text 16"/>
          <p:cNvSpPr/>
          <p:nvPr/>
        </p:nvSpPr>
        <p:spPr>
          <a:xfrm>
            <a:off x="6680607" y="2564281"/>
            <a:ext cx="2095866" cy="34480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环保、安全与社会责任约束全面收紧，尾矿库新建受限，历史遗留问题治理紧迫，</a:t>
            </a:r>
            <a:r>
              <a:rPr lang="zh-CN" alt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绿色低碳发展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要求成为硬性指标。</a:t>
            </a:r>
            <a:endParaRPr lang="en-US" altLang="zh-CN" sz="1050" dirty="0"/>
          </a:p>
        </p:txBody>
      </p:sp>
      <p:pic>
        <p:nvPicPr>
          <p:cNvPr id="49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607" y="1326800"/>
            <a:ext cx="1977302" cy="939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图片 49"/>
          <p:cNvPicPr>
            <a:picLocks noChangeAspect="1"/>
          </p:cNvPicPr>
          <p:nvPr/>
        </p:nvPicPr>
        <p:blipFill rotWithShape="1">
          <a:blip r:embed="rId10"/>
          <a:srcRect t="12590"/>
          <a:stretch>
            <a:fillRect/>
          </a:stretch>
        </p:blipFill>
        <p:spPr>
          <a:xfrm>
            <a:off x="8776473" y="1295463"/>
            <a:ext cx="2929161" cy="976757"/>
          </a:xfrm>
          <a:prstGeom prst="rect">
            <a:avLst/>
          </a:prstGeom>
        </p:spPr>
      </p:pic>
      <p:sp>
        <p:nvSpPr>
          <p:cNvPr id="51" name="object 9"/>
          <p:cNvSpPr/>
          <p:nvPr/>
        </p:nvSpPr>
        <p:spPr>
          <a:xfrm>
            <a:off x="6610010" y="1208831"/>
            <a:ext cx="5242836" cy="1924294"/>
          </a:xfrm>
          <a:prstGeom prst="rect">
            <a:avLst/>
          </a:prstGeom>
          <a:ln w="17999">
            <a:noFill/>
            <a:prstDash val="dash"/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6810702" y="3134871"/>
            <a:ext cx="5242836" cy="2988937"/>
            <a:chOff x="6289045" y="1116072"/>
            <a:chExt cx="5605546" cy="4704331"/>
          </a:xfrm>
        </p:grpSpPr>
        <p:grpSp>
          <p:nvGrpSpPr>
            <p:cNvPr id="53" name="组合 52"/>
            <p:cNvGrpSpPr/>
            <p:nvPr/>
          </p:nvGrpSpPr>
          <p:grpSpPr>
            <a:xfrm>
              <a:off x="6494234" y="2640908"/>
              <a:ext cx="5347174" cy="3106959"/>
              <a:chOff x="6191502" y="2052991"/>
              <a:chExt cx="5984623" cy="3477347"/>
            </a:xfrm>
          </p:grpSpPr>
          <p:sp>
            <p:nvSpPr>
              <p:cNvPr id="57" name="椭圆 56"/>
              <p:cNvSpPr/>
              <p:nvPr/>
            </p:nvSpPr>
            <p:spPr>
              <a:xfrm>
                <a:off x="8771219" y="2052991"/>
                <a:ext cx="3404906" cy="3404904"/>
              </a:xfrm>
              <a:prstGeom prst="ellipse">
                <a:avLst/>
              </a:prstGeom>
              <a:gradFill>
                <a:gsLst>
                  <a:gs pos="0">
                    <a:srgbClr val="75C9E2">
                      <a:lumMod val="20000"/>
                      <a:lumOff val="80000"/>
                      <a:alpha val="0"/>
                    </a:srgbClr>
                  </a:gs>
                  <a:gs pos="100000">
                    <a:srgbClr val="75C9E2">
                      <a:lumMod val="20000"/>
                      <a:lumOff val="80000"/>
                    </a:srgbClr>
                  </a:gs>
                </a:gsLst>
                <a:lin ang="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+mn-cs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9193217" y="2496394"/>
                <a:ext cx="256091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2000">
                    <a:gradFill>
                      <a:gsLst>
                        <a:gs pos="39000">
                          <a:srgbClr val="004EA2"/>
                        </a:gs>
                        <a:gs pos="100000">
                          <a:srgbClr val="75C9E2"/>
                        </a:gs>
                      </a:gsLst>
                      <a:lin ang="0" scaled="1"/>
                    </a:gradFill>
                    <a:latin typeface="+mj-ea"/>
                    <a:ea typeface="+mj-ea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>
                    <a:solidFill>
                      <a:srgbClr val="75C9E2"/>
                    </a:solidFill>
                    <a:latin typeface="HarmonyOS Sans SC Bold"/>
                    <a:ea typeface="HarmonyOS Sans SC Bold"/>
                  </a:rPr>
                  <a:t>成本优势</a:t>
                </a: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75C9E2"/>
                  </a:solidFill>
                  <a:effectLst/>
                  <a:uLnTx/>
                  <a:uFillTx/>
                  <a:latin typeface="HarmonyOS Sans SC Bold"/>
                  <a:ea typeface="HarmonyOS Sans SC Bold"/>
                  <a:cs typeface="+mn-cs"/>
                </a:endParaRPr>
              </a:p>
            </p:txBody>
          </p:sp>
          <p:sp>
            <p:nvSpPr>
              <p:cNvPr id="59" name="矩形: 圆角 58"/>
              <p:cNvSpPr/>
              <p:nvPr/>
            </p:nvSpPr>
            <p:spPr>
              <a:xfrm>
                <a:off x="9432716" y="3121632"/>
                <a:ext cx="2311560" cy="52321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75C9E2">
                      <a:lumMod val="40000"/>
                      <a:lumOff val="60000"/>
                    </a:srgbClr>
                  </a:gs>
                  <a:gs pos="100000">
                    <a:srgbClr val="75C9E2">
                      <a:lumMod val="40000"/>
                      <a:lumOff val="60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192D4E"/>
                    </a:solidFill>
                    <a:effectLst/>
                    <a:uLnTx/>
                    <a:uFillTx/>
                    <a:latin typeface="HarmonyOS Sans SC" panose="00000500000000000000" charset="-122"/>
                    <a:ea typeface="HarmonyOS Sans SC" panose="00000500000000000000" charset="-122"/>
                    <a:cs typeface="+mn-cs"/>
                  </a:rPr>
                  <a:t>减少磨矿成本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92D4E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+mn-cs"/>
                </a:endParaRPr>
              </a:p>
            </p:txBody>
          </p:sp>
          <p:sp>
            <p:nvSpPr>
              <p:cNvPr id="60" name="矩形: 圆角 59"/>
              <p:cNvSpPr/>
              <p:nvPr/>
            </p:nvSpPr>
            <p:spPr>
              <a:xfrm>
                <a:off x="9432718" y="3791905"/>
                <a:ext cx="2311559" cy="52321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75C9E2">
                      <a:lumMod val="40000"/>
                      <a:lumOff val="60000"/>
                    </a:srgbClr>
                  </a:gs>
                  <a:gs pos="100000">
                    <a:srgbClr val="75C9E2">
                      <a:lumMod val="40000"/>
                      <a:lumOff val="60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192D4E"/>
                    </a:solidFill>
                    <a:effectLst/>
                    <a:uLnTx/>
                    <a:uFillTx/>
                    <a:latin typeface="HarmonyOS Sans SC" panose="00000500000000000000" charset="-122"/>
                    <a:ea typeface="HarmonyOS Sans SC" panose="00000500000000000000" charset="-122"/>
                    <a:cs typeface="+mn-cs"/>
                  </a:rPr>
                  <a:t>提高入选品位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92D4E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+mn-cs"/>
                </a:endParaRPr>
              </a:p>
            </p:txBody>
          </p:sp>
          <p:sp>
            <p:nvSpPr>
              <p:cNvPr id="61" name="矩形: 圆角 60"/>
              <p:cNvSpPr/>
              <p:nvPr/>
            </p:nvSpPr>
            <p:spPr>
              <a:xfrm>
                <a:off x="9432718" y="4462176"/>
                <a:ext cx="2311559" cy="52321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75C9E2">
                      <a:lumMod val="40000"/>
                      <a:lumOff val="60000"/>
                    </a:srgbClr>
                  </a:gs>
                  <a:gs pos="100000">
                    <a:srgbClr val="75C9E2">
                      <a:lumMod val="40000"/>
                      <a:lumOff val="60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192D4E"/>
                    </a:solidFill>
                    <a:effectLst/>
                    <a:uLnTx/>
                    <a:uFillTx/>
                    <a:latin typeface="HarmonyOS Sans SC" panose="00000500000000000000" charset="-122"/>
                    <a:ea typeface="HarmonyOS Sans SC" panose="00000500000000000000" charset="-122"/>
                    <a:cs typeface="+mn-cs"/>
                  </a:rPr>
                  <a:t>降低运维成本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92D4E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+mn-cs"/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6191502" y="2125434"/>
                <a:ext cx="3404906" cy="3404904"/>
              </a:xfrm>
              <a:prstGeom prst="ellipse">
                <a:avLst/>
              </a:prstGeom>
              <a:gradFill>
                <a:gsLst>
                  <a:gs pos="0">
                    <a:srgbClr val="004EA2">
                      <a:lumMod val="5000"/>
                      <a:lumOff val="95000"/>
                    </a:srgbClr>
                  </a:gs>
                  <a:gs pos="100000">
                    <a:srgbClr val="004EA2">
                      <a:lumMod val="5000"/>
                      <a:lumOff val="95000"/>
                      <a:alpha val="25000"/>
                    </a:srgbClr>
                  </a:gs>
                </a:gsLst>
                <a:lin ang="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+mn-cs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6613500" y="2486711"/>
                <a:ext cx="256091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2000">
                    <a:gradFill>
                      <a:gsLst>
                        <a:gs pos="39000">
                          <a:srgbClr val="004EA2"/>
                        </a:gs>
                        <a:gs pos="100000">
                          <a:srgbClr val="75C9E2"/>
                        </a:gs>
                      </a:gsLst>
                      <a:lin ang="0" scaled="1"/>
                    </a:gradFill>
                    <a:latin typeface="+mj-ea"/>
                    <a:ea typeface="+mj-ea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4EA2"/>
                    </a:solidFill>
                    <a:effectLst/>
                    <a:uLnTx/>
                    <a:uFillTx/>
                    <a:latin typeface="HarmonyOS Sans SC Bold"/>
                    <a:ea typeface="HarmonyOS Sans SC Bold"/>
                    <a:cs typeface="+mn-cs"/>
                  </a:rPr>
                  <a:t>技术优势</a:t>
                </a: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4EA2"/>
                  </a:solidFill>
                  <a:effectLst/>
                  <a:uLnTx/>
                  <a:uFillTx/>
                  <a:latin typeface="HarmonyOS Sans SC Bold"/>
                  <a:ea typeface="HarmonyOS Sans SC Bold"/>
                  <a:cs typeface="+mn-cs"/>
                </a:endParaRPr>
              </a:p>
            </p:txBody>
          </p:sp>
          <p:sp>
            <p:nvSpPr>
              <p:cNvPr id="64" name="矩形: 圆角 63"/>
              <p:cNvSpPr/>
              <p:nvPr/>
            </p:nvSpPr>
            <p:spPr>
              <a:xfrm>
                <a:off x="6853000" y="3194075"/>
                <a:ext cx="2081910" cy="52322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4EA2">
                      <a:lumMod val="10000"/>
                      <a:lumOff val="90000"/>
                    </a:srgbClr>
                  </a:gs>
                  <a:gs pos="100000">
                    <a:srgbClr val="004EA2">
                      <a:lumMod val="10000"/>
                      <a:lumOff val="90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>
                    <a:solidFill>
                      <a:srgbClr val="192D4E"/>
                    </a:solidFill>
                    <a:latin typeface="HarmonyOS Sans SC" panose="00000500000000000000" charset="-122"/>
                    <a:ea typeface="HarmonyOS Sans SC" panose="00000500000000000000" charset="-122"/>
                  </a:rPr>
                  <a:t>快速精准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92D4E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+mn-cs"/>
                </a:endParaRPr>
              </a:p>
            </p:txBody>
          </p:sp>
          <p:sp>
            <p:nvSpPr>
              <p:cNvPr id="65" name="矩形: 圆角 64"/>
              <p:cNvSpPr/>
              <p:nvPr/>
            </p:nvSpPr>
            <p:spPr>
              <a:xfrm>
                <a:off x="6853000" y="3864348"/>
                <a:ext cx="2081910" cy="52322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4EA2">
                      <a:lumMod val="10000"/>
                      <a:lumOff val="90000"/>
                    </a:srgbClr>
                  </a:gs>
                  <a:gs pos="100000">
                    <a:srgbClr val="004EA2">
                      <a:lumMod val="10000"/>
                      <a:lumOff val="90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>
                    <a:solidFill>
                      <a:srgbClr val="192D4E"/>
                    </a:solidFill>
                    <a:latin typeface="HarmonyOS Sans SC" panose="00000500000000000000" charset="-122"/>
                    <a:ea typeface="HarmonyOS Sans SC" panose="00000500000000000000" charset="-122"/>
                  </a:rPr>
                  <a:t>适用性强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92D4E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+mn-cs"/>
                </a:endParaRPr>
              </a:p>
            </p:txBody>
          </p:sp>
          <p:sp>
            <p:nvSpPr>
              <p:cNvPr id="66" name="矩形: 圆角 65"/>
              <p:cNvSpPr/>
              <p:nvPr/>
            </p:nvSpPr>
            <p:spPr>
              <a:xfrm>
                <a:off x="6853000" y="4534620"/>
                <a:ext cx="2081910" cy="52322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4EA2">
                      <a:lumMod val="10000"/>
                      <a:lumOff val="90000"/>
                    </a:srgbClr>
                  </a:gs>
                  <a:gs pos="100000">
                    <a:srgbClr val="004EA2">
                      <a:lumMod val="10000"/>
                      <a:lumOff val="90000"/>
                    </a:srgb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>
                    <a:solidFill>
                      <a:srgbClr val="192D4E"/>
                    </a:solidFill>
                    <a:latin typeface="HarmonyOS Sans SC" panose="00000500000000000000" charset="-122"/>
                    <a:ea typeface="HarmonyOS Sans SC" panose="00000500000000000000" charset="-122"/>
                  </a:rPr>
                  <a:t>绿色环保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92D4E"/>
                  </a:solidFill>
                  <a:effectLst/>
                  <a:uLnTx/>
                  <a:uFillTx/>
                  <a:latin typeface="HarmonyOS Sans SC" panose="00000500000000000000" charset="-122"/>
                  <a:ea typeface="HarmonyOS Sans SC" panose="00000500000000000000" charset="-122"/>
                  <a:cs typeface="+mn-cs"/>
                </a:endParaRPr>
              </a:p>
            </p:txBody>
          </p:sp>
        </p:grpSp>
        <p:sp>
          <p:nvSpPr>
            <p:cNvPr id="54" name="矩形 53"/>
            <p:cNvSpPr/>
            <p:nvPr/>
          </p:nvSpPr>
          <p:spPr>
            <a:xfrm>
              <a:off x="6289045" y="1446428"/>
              <a:ext cx="5605546" cy="4373975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7563090" y="1116072"/>
              <a:ext cx="3226265" cy="547119"/>
            </a:xfrm>
            <a:prstGeom prst="rect">
              <a:avLst/>
            </a:prstGeom>
            <a:solidFill>
              <a:srgbClr val="2F5597"/>
            </a:solidFill>
            <a:ln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algn="ctr">
                <a:defRPr sz="1200" b="1">
                  <a:solidFill>
                    <a:srgbClr val="233E7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</a:lstStyle>
            <a:p>
              <a:r>
                <a:rPr lang="zh-CN" altLang="en-US" sz="1600">
                  <a:solidFill>
                    <a:schemeClr val="bg1"/>
                  </a:solidFill>
                </a:rPr>
                <a:t>智能分选装备</a:t>
              </a:r>
              <a:endParaRPr lang="zh-CN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6505789" y="1731623"/>
              <a:ext cx="5172058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矿石智能分选装备能够精准识别矿物内部成分差异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，减少进入“碎</a:t>
              </a:r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磨</a:t>
              </a:r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选”工序的废石量，降低人力、物力、能源的消耗； 提高浮选产品质量，降低选矿厂的综合成本。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82"/>
            <a:ext cx="12192000" cy="63291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0" y="85725"/>
            <a:ext cx="121920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一、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背景</a:t>
            </a:r>
            <a:r>
              <a:rPr 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介绍</a:t>
            </a:r>
            <a:endParaRPr 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 descr="江西铜业技术研究院有限公司横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24370" y="5871210"/>
            <a:ext cx="4913630" cy="761365"/>
          </a:xfrm>
          <a:prstGeom prst="rect">
            <a:avLst/>
          </a:prstGeom>
        </p:spPr>
      </p:pic>
      <p:sp>
        <p:nvSpPr>
          <p:cNvPr id="96" name="文本框 95"/>
          <p:cNvSpPr txBox="1"/>
          <p:nvPr/>
        </p:nvSpPr>
        <p:spPr>
          <a:xfrm>
            <a:off x="147665" y="3056759"/>
            <a:ext cx="39670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已引进的设备厂商</a:t>
            </a:r>
            <a:endParaRPr lang="zh-CN" altLang="en-US" sz="2000" dirty="0"/>
          </a:p>
        </p:txBody>
      </p:sp>
      <p:sp>
        <p:nvSpPr>
          <p:cNvPr id="97" name="文本框 96"/>
          <p:cNvSpPr txBox="1"/>
          <p:nvPr/>
        </p:nvSpPr>
        <p:spPr>
          <a:xfrm>
            <a:off x="6462999" y="718639"/>
            <a:ext cx="28741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分选过程与应用范围：</a:t>
            </a:r>
            <a:endParaRPr lang="zh-CN" altLang="en-US" sz="2000" dirty="0"/>
          </a:p>
        </p:txBody>
      </p:sp>
      <p:grpSp>
        <p:nvGrpSpPr>
          <p:cNvPr id="98" name="组合 97"/>
          <p:cNvGrpSpPr/>
          <p:nvPr/>
        </p:nvGrpSpPr>
        <p:grpSpPr>
          <a:xfrm>
            <a:off x="448447" y="3750272"/>
            <a:ext cx="3240836" cy="1864103"/>
            <a:chOff x="6388452" y="1450725"/>
            <a:chExt cx="2688339" cy="1533539"/>
          </a:xfrm>
          <a:solidFill>
            <a:srgbClr val="F1F1F1"/>
          </a:solidFill>
        </p:grpSpPr>
        <p:pic>
          <p:nvPicPr>
            <p:cNvPr id="99" name="Picture 2" descr="拼命加载中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8452" y="1453514"/>
              <a:ext cx="720396" cy="899864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" name="图片 9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9658" y="1450725"/>
              <a:ext cx="1661210" cy="458494"/>
            </a:xfrm>
            <a:prstGeom prst="rect">
              <a:avLst/>
            </a:prstGeom>
            <a:grpFill/>
          </p:spPr>
        </p:pic>
        <p:pic>
          <p:nvPicPr>
            <p:cNvPr id="101" name="图片 1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89658" y="2031427"/>
              <a:ext cx="1687133" cy="399288"/>
            </a:xfrm>
            <a:prstGeom prst="rect">
              <a:avLst/>
            </a:prstGeom>
            <a:grpFill/>
          </p:spPr>
        </p:pic>
        <p:pic>
          <p:nvPicPr>
            <p:cNvPr id="102" name="图片 10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88452" y="2587734"/>
              <a:ext cx="2688339" cy="396530"/>
            </a:xfrm>
            <a:prstGeom prst="rect">
              <a:avLst/>
            </a:prstGeom>
            <a:grpFill/>
          </p:spPr>
        </p:pic>
      </p:grpSp>
      <p:sp>
        <p:nvSpPr>
          <p:cNvPr id="103" name="文本框 102"/>
          <p:cNvSpPr txBox="1"/>
          <p:nvPr/>
        </p:nvSpPr>
        <p:spPr>
          <a:xfrm>
            <a:off x="156189" y="718639"/>
            <a:ext cx="6487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多家矿山已引入智能分选技术</a:t>
            </a:r>
            <a:endParaRPr lang="zh-CN" altLang="en-US" sz="2000" dirty="0"/>
          </a:p>
        </p:txBody>
      </p:sp>
      <p:grpSp>
        <p:nvGrpSpPr>
          <p:cNvPr id="104" name="组合 103"/>
          <p:cNvGrpSpPr/>
          <p:nvPr/>
        </p:nvGrpSpPr>
        <p:grpSpPr>
          <a:xfrm>
            <a:off x="6666551" y="1445593"/>
            <a:ext cx="5086075" cy="1249918"/>
            <a:chOff x="503457" y="4765911"/>
            <a:chExt cx="5086075" cy="1249918"/>
          </a:xfrm>
        </p:grpSpPr>
        <p:grpSp>
          <p:nvGrpSpPr>
            <p:cNvPr id="105" name="组合 104"/>
            <p:cNvGrpSpPr/>
            <p:nvPr/>
          </p:nvGrpSpPr>
          <p:grpSpPr>
            <a:xfrm>
              <a:off x="503457" y="5597638"/>
              <a:ext cx="5022505" cy="418191"/>
              <a:chOff x="417061" y="4662074"/>
              <a:chExt cx="4661618" cy="326544"/>
            </a:xfrm>
          </p:grpSpPr>
          <p:sp>
            <p:nvSpPr>
              <p:cNvPr id="114" name="文本框 113"/>
              <p:cNvSpPr txBox="1"/>
              <p:nvPr/>
            </p:nvSpPr>
            <p:spPr>
              <a:xfrm>
                <a:off x="417061" y="4662074"/>
                <a:ext cx="939697" cy="326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1600" b="1">
                    <a:solidFill>
                      <a:srgbClr val="615CE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可分选</a:t>
                </a:r>
                <a:r>
                  <a:rPr lang="zh-CN" altLang="en-US" sz="1600" b="1" dirty="0">
                    <a:solidFill>
                      <a:srgbClr val="615CE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zh-CN" altLang="en-US" sz="1600" b="1" dirty="0">
                  <a:solidFill>
                    <a:srgbClr val="615CE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1874603" y="4750730"/>
                <a:ext cx="570307" cy="214659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铅锌</a:t>
                </a:r>
                <a:endParaRPr lang="zh-CN" altLang="en-US" sz="1400" b="1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1208303" y="4750730"/>
                <a:ext cx="570307" cy="214659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铜</a:t>
                </a:r>
                <a:endParaRPr lang="zh-CN" altLang="en-US" sz="1400" b="1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2540903" y="4750730"/>
                <a:ext cx="562449" cy="214659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钨</a:t>
                </a:r>
                <a:endParaRPr lang="zh-CN" altLang="en-US" sz="1400" b="1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3199345" y="4750730"/>
                <a:ext cx="562449" cy="214659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煤炭</a:t>
                </a:r>
                <a:endParaRPr lang="zh-CN" altLang="en-US" sz="1400" b="1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4516230" y="4750730"/>
                <a:ext cx="562449" cy="214659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CN" altLang="en-US" sz="1400" b="1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3857787" y="4750730"/>
                <a:ext cx="562449" cy="214659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锂</a:t>
                </a:r>
                <a:endParaRPr lang="zh-CN" altLang="en-US" sz="1400" b="1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6" name="文本框 105"/>
            <p:cNvSpPr txBox="1"/>
            <p:nvPr/>
          </p:nvSpPr>
          <p:spPr>
            <a:xfrm>
              <a:off x="525065" y="4771627"/>
              <a:ext cx="1303458" cy="313535"/>
            </a:xfrm>
            <a:prstGeom prst="rect">
              <a:avLst/>
            </a:prstGeom>
            <a:noFill/>
            <a:ln w="25400" cap="sq">
              <a:solidFill>
                <a:srgbClr val="2F5597"/>
              </a:solidFill>
              <a:prstDash val="dash"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50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/>
              <a:r>
                <a:rPr lang="zh-CN" altLang="en-US" sz="1400" b="1"/>
                <a:t>信号获取</a:t>
              </a:r>
              <a:endParaRPr lang="zh-CN" altLang="en-US" sz="1400" b="1" dirty="0"/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2433833" y="4775391"/>
              <a:ext cx="1303458" cy="307777"/>
            </a:xfrm>
            <a:prstGeom prst="rect">
              <a:avLst/>
            </a:prstGeom>
            <a:noFill/>
            <a:ln w="25400" cap="sq">
              <a:solidFill>
                <a:srgbClr val="2F5597"/>
              </a:solidFill>
              <a:prstDash val="dash"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5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/>
                <a:t>判别分类</a:t>
              </a:r>
              <a:endParaRPr lang="zh-CN" altLang="en-US" sz="1400" dirty="0"/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4286074" y="4765911"/>
              <a:ext cx="1303458" cy="313535"/>
            </a:xfrm>
            <a:prstGeom prst="rect">
              <a:avLst/>
            </a:prstGeom>
            <a:noFill/>
            <a:ln w="25400" cap="sq">
              <a:solidFill>
                <a:srgbClr val="2F5597"/>
              </a:solidFill>
              <a:prstDash val="dash"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5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/>
                <a:t>分选执行</a:t>
              </a:r>
              <a:endParaRPr lang="zh-CN" altLang="en-US" sz="1400" dirty="0"/>
            </a:p>
          </p:txBody>
        </p:sp>
        <p:sp>
          <p:nvSpPr>
            <p:cNvPr id="109" name="右箭头 11"/>
            <p:cNvSpPr/>
            <p:nvPr/>
          </p:nvSpPr>
          <p:spPr>
            <a:xfrm>
              <a:off x="1920237" y="4822141"/>
              <a:ext cx="357749" cy="240640"/>
            </a:xfrm>
            <a:prstGeom prst="rightArrow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10" name="右箭头 11"/>
            <p:cNvSpPr/>
            <p:nvPr/>
          </p:nvSpPr>
          <p:spPr>
            <a:xfrm>
              <a:off x="3852187" y="4833522"/>
              <a:ext cx="357749" cy="240640"/>
            </a:xfrm>
            <a:prstGeom prst="rightArrow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cxnSp>
          <p:nvCxnSpPr>
            <p:cNvPr id="112" name="直接箭头连接符 111"/>
            <p:cNvCxnSpPr/>
            <p:nvPr/>
          </p:nvCxnSpPr>
          <p:spPr>
            <a:xfrm>
              <a:off x="3174095" y="5217868"/>
              <a:ext cx="0" cy="3797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矩形 112"/>
            <p:cNvSpPr/>
            <p:nvPr/>
          </p:nvSpPr>
          <p:spPr>
            <a:xfrm>
              <a:off x="3046386" y="5263092"/>
              <a:ext cx="613115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实现</a:t>
              </a:r>
              <a:endParaRPr kumimoji="0" lang="zh-CN" altLang="en-US" sz="10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pic>
        <p:nvPicPr>
          <p:cNvPr id="122" name="图片 1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447" y="1146322"/>
            <a:ext cx="3240836" cy="1825700"/>
          </a:xfrm>
          <a:prstGeom prst="rect">
            <a:avLst/>
          </a:prstGeom>
        </p:spPr>
      </p:pic>
      <p:pic>
        <p:nvPicPr>
          <p:cNvPr id="123" name="图片 1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4661" y="1146322"/>
            <a:ext cx="2688339" cy="1829386"/>
          </a:xfrm>
          <a:prstGeom prst="rect">
            <a:avLst/>
          </a:prstGeom>
        </p:spPr>
      </p:pic>
      <p:sp>
        <p:nvSpPr>
          <p:cNvPr id="124" name="文本框 123"/>
          <p:cNvSpPr txBox="1"/>
          <p:nvPr/>
        </p:nvSpPr>
        <p:spPr>
          <a:xfrm>
            <a:off x="3926950" y="3056759"/>
            <a:ext cx="77621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应用效果（以银山矿业为例）：转化应用至今预计创效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1100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万元</a:t>
            </a:r>
            <a:endParaRPr lang="zh-CN" altLang="en-US" sz="2000" dirty="0"/>
          </a:p>
        </p:txBody>
      </p:sp>
      <p:graphicFrame>
        <p:nvGraphicFramePr>
          <p:cNvPr id="125" name="表格 124"/>
          <p:cNvGraphicFramePr>
            <a:graphicFrameLocks noGrp="1"/>
          </p:cNvGraphicFramePr>
          <p:nvPr/>
        </p:nvGraphicFramePr>
        <p:xfrm>
          <a:off x="4027804" y="3496115"/>
          <a:ext cx="7910196" cy="2279900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659183"/>
                <a:gridCol w="659183"/>
                <a:gridCol w="659183"/>
                <a:gridCol w="659183"/>
                <a:gridCol w="659183"/>
                <a:gridCol w="659183"/>
                <a:gridCol w="659183"/>
                <a:gridCol w="659183"/>
                <a:gridCol w="659183"/>
                <a:gridCol w="659183"/>
                <a:gridCol w="659183"/>
                <a:gridCol w="659183"/>
              </a:tblGrid>
              <a:tr h="219292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600" b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银山矿业公司光电分选科研期间数据报表（</a:t>
                      </a:r>
                      <a:r>
                        <a:rPr lang="en-US" altLang="zh-CN" sz="1600" b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2024.10-2025.04</a:t>
                      </a:r>
                      <a:r>
                        <a:rPr lang="zh-CN" altLang="en-US" sz="1600" b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600" b="0" i="0" u="none" strike="noStrike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7769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产品名称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重量（</a:t>
                      </a: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t）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产率（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%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品位（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%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金属回收率（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%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富集比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177698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Au(g/t)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177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矿石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9309.8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30.02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0.239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9.381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0.652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52.63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40.95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40.61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1.75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1.35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177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废石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21700.8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0.092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5.803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0.409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77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原料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31010.6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6.877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0.482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19292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600" b="0" u="none" strike="noStrike" kern="1200" baseline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银山矿业公司光电分选工业化应用数据报表（</a:t>
                      </a:r>
                      <a:r>
                        <a:rPr lang="en-US" altLang="zh-CN" sz="1600" b="0" u="none" strike="noStrike" kern="1200" baseline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2025.05-2026.02</a:t>
                      </a:r>
                      <a:r>
                        <a:rPr lang="zh-CN" altLang="en-US" sz="1600" b="0" u="none" strike="noStrike" kern="1200" baseline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endParaRPr lang="zh-CN" altLang="en-US" sz="1600" b="0" u="none" strike="noStrike" kern="1200" baseline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7769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产品名称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重量（</a:t>
                      </a: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t）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  产率（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品位（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金属回收率（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富集比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177698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Au(g/t)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177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矿石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79998.2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31.61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0.235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8.007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0.646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68.61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53.67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76.63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2.17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2.42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177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废石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173106.8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3.194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0.091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77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原料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253105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4.715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0.267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</a:tbl>
          </a:graphicData>
        </a:graphic>
      </p:graphicFrame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82"/>
            <a:ext cx="12192000" cy="63291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0" y="85725"/>
            <a:ext cx="121920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一、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背景</a:t>
            </a:r>
            <a:r>
              <a:rPr 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介绍</a:t>
            </a:r>
            <a:endParaRPr 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 descr="江西铜业技术研究院有限公司横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24370" y="5871210"/>
            <a:ext cx="4913630" cy="761365"/>
          </a:xfrm>
          <a:prstGeom prst="rect">
            <a:avLst/>
          </a:prstGeom>
        </p:spPr>
      </p:pic>
      <p:pic>
        <p:nvPicPr>
          <p:cNvPr id="28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008" y="3546691"/>
            <a:ext cx="3759055" cy="1369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3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2538" y="4301920"/>
            <a:ext cx="2514583" cy="1812607"/>
          </a:xfrm>
          <a:prstGeom prst="rect">
            <a:avLst/>
          </a:prstGeom>
          <a:noFill/>
        </p:spPr>
      </p:pic>
      <p:pic>
        <p:nvPicPr>
          <p:cNvPr id="30" name="图片 3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176"/>
          <a:stretch>
            <a:fillRect/>
          </a:stretch>
        </p:blipFill>
        <p:spPr>
          <a:xfrm>
            <a:off x="2700896" y="4915984"/>
            <a:ext cx="3735280" cy="1198543"/>
          </a:xfrm>
          <a:prstGeom prst="rect">
            <a:avLst/>
          </a:prstGeom>
          <a:noFill/>
        </p:spPr>
      </p:pic>
      <p:grpSp>
        <p:nvGrpSpPr>
          <p:cNvPr id="31" name="组合 30"/>
          <p:cNvGrpSpPr/>
          <p:nvPr/>
        </p:nvGrpSpPr>
        <p:grpSpPr>
          <a:xfrm>
            <a:off x="6967313" y="718639"/>
            <a:ext cx="5019952" cy="1930575"/>
            <a:chOff x="4542592" y="962003"/>
            <a:chExt cx="7470908" cy="3065132"/>
          </a:xfrm>
        </p:grpSpPr>
        <p:pic>
          <p:nvPicPr>
            <p:cNvPr id="32" name="图片 31"/>
            <p:cNvPicPr/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96" t="18988" r="4015" b="8996"/>
            <a:stretch>
              <a:fillRect/>
            </a:stretch>
          </p:blipFill>
          <p:spPr>
            <a:xfrm>
              <a:off x="5626099" y="1720850"/>
              <a:ext cx="5733235" cy="1987550"/>
            </a:xfrm>
            <a:prstGeom prst="rect">
              <a:avLst/>
            </a:prstGeom>
            <a:noFill/>
          </p:spPr>
        </p:pic>
        <p:sp>
          <p:nvSpPr>
            <p:cNvPr id="33" name="文本框 32"/>
            <p:cNvSpPr txBox="1"/>
            <p:nvPr/>
          </p:nvSpPr>
          <p:spPr>
            <a:xfrm>
              <a:off x="5124997" y="1037753"/>
              <a:ext cx="448912" cy="10261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/>
                <a:t>入料口</a:t>
              </a:r>
              <a:endParaRPr lang="zh-CN" altLang="en-US" sz="1200" dirty="0"/>
            </a:p>
          </p:txBody>
        </p:sp>
        <p:cxnSp>
          <p:nvCxnSpPr>
            <p:cNvPr id="34" name="直接箭头连接符 33"/>
            <p:cNvCxnSpPr/>
            <p:nvPr/>
          </p:nvCxnSpPr>
          <p:spPr>
            <a:xfrm>
              <a:off x="5499260" y="1602756"/>
              <a:ext cx="462918" cy="246522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/>
          </p:nvSpPr>
          <p:spPr>
            <a:xfrm>
              <a:off x="6919462" y="1194355"/>
              <a:ext cx="1153777" cy="4153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dirty="0"/>
                <a:t>输送系统</a:t>
              </a:r>
              <a:endParaRPr lang="zh-CN" altLang="en-US" sz="1100" dirty="0"/>
            </a:p>
          </p:txBody>
        </p:sp>
        <p:cxnSp>
          <p:nvCxnSpPr>
            <p:cNvPr id="36" name="直接箭头连接符 35"/>
            <p:cNvCxnSpPr>
              <a:stCxn id="35" idx="2"/>
            </p:cNvCxnSpPr>
            <p:nvPr/>
          </p:nvCxnSpPr>
          <p:spPr>
            <a:xfrm>
              <a:off x="7496351" y="1609708"/>
              <a:ext cx="257987" cy="812216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8958648" y="1063831"/>
              <a:ext cx="818522" cy="684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dirty="0"/>
                <a:t>成像系统</a:t>
              </a:r>
              <a:endParaRPr lang="zh-CN" altLang="en-US" sz="1100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1542654" y="1670051"/>
              <a:ext cx="470846" cy="952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100"/>
                <a:t>出料口</a:t>
              </a:r>
              <a:endParaRPr lang="zh-CN" altLang="en-US" sz="1100" dirty="0"/>
            </a:p>
          </p:txBody>
        </p:sp>
        <p:cxnSp>
          <p:nvCxnSpPr>
            <p:cNvPr id="39" name="直接箭头连接符 38"/>
            <p:cNvCxnSpPr>
              <a:stCxn id="38" idx="1"/>
            </p:cNvCxnSpPr>
            <p:nvPr/>
          </p:nvCxnSpPr>
          <p:spPr>
            <a:xfrm flipH="1">
              <a:off x="10854267" y="2146484"/>
              <a:ext cx="688387" cy="761816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10277286" y="1053250"/>
              <a:ext cx="733382" cy="684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dirty="0"/>
                <a:t>喷吹系统</a:t>
              </a:r>
              <a:endParaRPr lang="zh-CN" altLang="en-US" sz="1100" dirty="0"/>
            </a:p>
          </p:txBody>
        </p:sp>
        <p:cxnSp>
          <p:nvCxnSpPr>
            <p:cNvPr id="41" name="直接箭头连接符 40"/>
            <p:cNvCxnSpPr>
              <a:stCxn id="37" idx="2"/>
            </p:cNvCxnSpPr>
            <p:nvPr/>
          </p:nvCxnSpPr>
          <p:spPr>
            <a:xfrm>
              <a:off x="9367909" y="1747940"/>
              <a:ext cx="55782" cy="367031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>
              <a:stCxn id="40" idx="2"/>
            </p:cNvCxnSpPr>
            <p:nvPr/>
          </p:nvCxnSpPr>
          <p:spPr>
            <a:xfrm flipH="1">
              <a:off x="10344148" y="1737360"/>
              <a:ext cx="299829" cy="947147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43" name="矩形 37"/>
            <p:cNvSpPr>
              <a:spLocks noChangeArrowheads="1"/>
            </p:cNvSpPr>
            <p:nvPr/>
          </p:nvSpPr>
          <p:spPr bwMode="auto">
            <a:xfrm>
              <a:off x="4542592" y="962003"/>
              <a:ext cx="464993" cy="3065132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eaVert" lIns="65635" tIns="32820" rIns="65635" bIns="32820" anchor="ctr" anchorCtr="1"/>
            <a:lstStyle>
              <a:defPPr>
                <a:defRPr lang="zh-CN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794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工业样机框架式结构</a:t>
              </a: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</a:t>
              </a:r>
              <a:endPara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967313" y="4055484"/>
            <a:ext cx="4590248" cy="1721000"/>
            <a:chOff x="5512972" y="4114686"/>
            <a:chExt cx="5499068" cy="2088209"/>
          </a:xfrm>
        </p:grpSpPr>
        <p:pic>
          <p:nvPicPr>
            <p:cNvPr id="45" name="图片 44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70" t="57263" r="3380" b="9690"/>
            <a:stretch>
              <a:fillRect/>
            </a:stretch>
          </p:blipFill>
          <p:spPr>
            <a:xfrm>
              <a:off x="6385161" y="4216464"/>
              <a:ext cx="4626879" cy="1754240"/>
            </a:xfrm>
            <a:prstGeom prst="rect">
              <a:avLst/>
            </a:prstGeom>
          </p:spPr>
        </p:pic>
        <p:sp>
          <p:nvSpPr>
            <p:cNvPr id="46" name="矩形 37"/>
            <p:cNvSpPr>
              <a:spLocks noChangeArrowheads="1"/>
            </p:cNvSpPr>
            <p:nvPr/>
          </p:nvSpPr>
          <p:spPr bwMode="auto">
            <a:xfrm flipH="1">
              <a:off x="5512972" y="4114686"/>
              <a:ext cx="374305" cy="208820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eaVert" lIns="65635" tIns="32820" rIns="65635" bIns="32820" anchor="ctr" anchorCtr="1"/>
            <a:lstStyle>
              <a:defPPr>
                <a:defRPr lang="zh-CN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8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7947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工业样机现场</a:t>
              </a:r>
              <a:r>
                <a:rPr kumimoji="0" lang="zh-CN" altLang="en-US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实物图</a:t>
              </a:r>
              <a:endPara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47" name="图片 46" descr="图片包含 游戏机, 床, 电脑&#10;&#10;AI 生成的内容可能不正确。"/>
          <p:cNvPicPr/>
          <p:nvPr/>
        </p:nvPicPr>
        <p:blipFill rotWithShape="1">
          <a:blip r:embed="rId8"/>
          <a:srcRect l="5960" t="18622" r="2672" b="6767"/>
          <a:stretch>
            <a:fillRect/>
          </a:stretch>
        </p:blipFill>
        <p:spPr>
          <a:xfrm>
            <a:off x="7695357" y="2569765"/>
            <a:ext cx="3862204" cy="1445759"/>
          </a:xfrm>
          <a:prstGeom prst="rect">
            <a:avLst/>
          </a:prstGeom>
        </p:spPr>
      </p:pic>
      <p:sp>
        <p:nvSpPr>
          <p:cNvPr id="48" name="矩形 37"/>
          <p:cNvSpPr>
            <a:spLocks noChangeArrowheads="1"/>
          </p:cNvSpPr>
          <p:nvPr/>
        </p:nvSpPr>
        <p:spPr bwMode="auto">
          <a:xfrm>
            <a:off x="6936625" y="2818952"/>
            <a:ext cx="564964" cy="81973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65635" tIns="32820" rIns="65635" bIns="32820" anchor="ctr" anchorCtr="1"/>
          <a:lstStyle>
            <a:defPPr>
              <a:defRPr lang="zh-CN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794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屏蔽防护外壳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25" y="1008795"/>
            <a:ext cx="6164451" cy="2502652"/>
          </a:xfrm>
          <a:prstGeom prst="rect">
            <a:avLst/>
          </a:prstGeom>
        </p:spPr>
      </p:pic>
      <p:sp>
        <p:nvSpPr>
          <p:cNvPr id="76" name="矩形 37"/>
          <p:cNvSpPr>
            <a:spLocks noChangeArrowheads="1"/>
          </p:cNvSpPr>
          <p:nvPr/>
        </p:nvSpPr>
        <p:spPr bwMode="auto">
          <a:xfrm>
            <a:off x="271725" y="784193"/>
            <a:ext cx="1701024" cy="27594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65635" tIns="32820" rIns="65635" bIns="32820" anchor="ctr" anchorCtr="1"/>
          <a:lstStyle>
            <a:defPPr>
              <a:defRPr lang="zh-CN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794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整体技术路线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7" name="矩形 37"/>
          <p:cNvSpPr>
            <a:spLocks noChangeArrowheads="1"/>
          </p:cNvSpPr>
          <p:nvPr/>
        </p:nvSpPr>
        <p:spPr bwMode="auto">
          <a:xfrm>
            <a:off x="439784" y="3523343"/>
            <a:ext cx="1701024" cy="38862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65635" tIns="32820" rIns="65635" bIns="32820" anchor="ctr" anchorCtr="1"/>
          <a:lstStyle>
            <a:defPPr>
              <a:defRPr lang="zh-CN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794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实验室样机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8166034" y="5651002"/>
            <a:ext cx="32735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完成实验室样机与工业样机开发与搭建，并于银山露采现场开展验证试验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82"/>
            <a:ext cx="12192000" cy="63291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0" y="85725"/>
            <a:ext cx="12192000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二、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拟解决的关键技术问题、技术路线及技术目标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>
              <a:lnSpc>
                <a:spcPct val="100000"/>
              </a:lnSpc>
            </a:pPr>
            <a:endParaRPr 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 descr="江西铜业技术研究院有限公司横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24370" y="5871210"/>
            <a:ext cx="4913630" cy="761365"/>
          </a:xfrm>
          <a:prstGeom prst="rect">
            <a:avLst/>
          </a:prstGeom>
        </p:spPr>
      </p:pic>
      <p:sp>
        <p:nvSpPr>
          <p:cNvPr id="10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3433720-DAB8-4212-8ACA-18E895AA4092}" type="slidenum">
              <a:rPr lang="zh-CN" altLang="en-US" smtClean="0"/>
            </a:fld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651490" y="1860999"/>
            <a:ext cx="2137308" cy="966520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嵌布复杂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信号弱、噪声强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81842" y="3264115"/>
            <a:ext cx="2127921" cy="991080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数据处理延迟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喷吹响应滞后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15958" y="4813573"/>
            <a:ext cx="2127921" cy="991080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解离差异大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参数难统一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731627" y="5009087"/>
            <a:ext cx="1240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全粒级</a:t>
            </a:r>
            <a:endPara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利用难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651490" y="1092616"/>
            <a:ext cx="2137308" cy="461665"/>
          </a:xfrm>
          <a:prstGeom prst="rect">
            <a:avLst/>
          </a:prstGeom>
          <a:solidFill>
            <a:srgbClr val="2F5597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三大挑战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871371" y="1092616"/>
            <a:ext cx="3230005" cy="461665"/>
          </a:xfrm>
          <a:prstGeom prst="rect">
            <a:avLst/>
          </a:prstGeom>
          <a:solidFill>
            <a:srgbClr val="2F5597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研究内容及关键问题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85246" y="2887057"/>
            <a:ext cx="1088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F1115"/>
                </a:solidFill>
                <a:latin typeface="quote-cjk-patch"/>
              </a:rPr>
              <a:t>低品位铜矿</a:t>
            </a:r>
            <a:endParaRPr lang="zh-CN" altLang="en-US" sz="14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671" y="1858242"/>
            <a:ext cx="1426448" cy="991080"/>
          </a:xfrm>
          <a:prstGeom prst="rect">
            <a:avLst/>
          </a:prstGeom>
        </p:spPr>
      </p:pic>
      <p:sp>
        <p:nvSpPr>
          <p:cNvPr id="18" name="箭头: 右 17"/>
          <p:cNvSpPr/>
          <p:nvPr/>
        </p:nvSpPr>
        <p:spPr>
          <a:xfrm>
            <a:off x="7169390" y="2133771"/>
            <a:ext cx="394471" cy="355699"/>
          </a:xfrm>
          <a:prstGeom prst="rightArrow">
            <a:avLst>
              <a:gd name="adj1" fmla="val 47481"/>
              <a:gd name="adj2" fmla="val 45381"/>
            </a:avLst>
          </a:prstGeom>
          <a:solidFill>
            <a:schemeClr val="tx2">
              <a:lumMod val="40000"/>
              <a:lumOff val="60000"/>
            </a:schemeClr>
          </a:solidFill>
          <a:ln w="22225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箭头: 右 18"/>
          <p:cNvSpPr/>
          <p:nvPr/>
        </p:nvSpPr>
        <p:spPr>
          <a:xfrm>
            <a:off x="7146780" y="3581806"/>
            <a:ext cx="394471" cy="355699"/>
          </a:xfrm>
          <a:prstGeom prst="rightArrow">
            <a:avLst>
              <a:gd name="adj1" fmla="val 47481"/>
              <a:gd name="adj2" fmla="val 45381"/>
            </a:avLst>
          </a:prstGeom>
          <a:solidFill>
            <a:schemeClr val="tx2">
              <a:lumMod val="40000"/>
              <a:lumOff val="60000"/>
            </a:schemeClr>
          </a:solidFill>
          <a:ln w="22225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箭头: 右 19"/>
          <p:cNvSpPr/>
          <p:nvPr/>
        </p:nvSpPr>
        <p:spPr>
          <a:xfrm>
            <a:off x="7169390" y="5029842"/>
            <a:ext cx="394471" cy="355699"/>
          </a:xfrm>
          <a:prstGeom prst="rightArrow">
            <a:avLst>
              <a:gd name="adj1" fmla="val 47481"/>
              <a:gd name="adj2" fmla="val 45381"/>
            </a:avLst>
          </a:prstGeom>
          <a:solidFill>
            <a:schemeClr val="tx2">
              <a:lumMod val="40000"/>
              <a:lumOff val="60000"/>
            </a:schemeClr>
          </a:solidFill>
          <a:ln w="22225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7861457" y="1753404"/>
            <a:ext cx="3360965" cy="1062544"/>
            <a:chOff x="1177908" y="874267"/>
            <a:chExt cx="3360965" cy="1062544"/>
          </a:xfrm>
        </p:grpSpPr>
        <p:sp>
          <p:nvSpPr>
            <p:cNvPr id="22" name="矩形: 圆角 21"/>
            <p:cNvSpPr/>
            <p:nvPr/>
          </p:nvSpPr>
          <p:spPr>
            <a:xfrm>
              <a:off x="1217095" y="874267"/>
              <a:ext cx="3230006" cy="1062544"/>
            </a:xfrm>
            <a:prstGeom prst="roundRect">
              <a:avLst/>
            </a:prstGeom>
            <a:solidFill>
              <a:srgbClr val="2F55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1177908" y="944347"/>
              <a:ext cx="3360965" cy="8458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z="20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低品位铜矿高精度识别</a:t>
              </a:r>
              <a:endPara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>
                <a:lnSpc>
                  <a:spcPct val="114000"/>
                </a:lnSpc>
                <a:defRPr/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多维特征融合及识别算法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856962" y="3153172"/>
            <a:ext cx="3360965" cy="1050498"/>
            <a:chOff x="1093527" y="2695733"/>
            <a:chExt cx="3360965" cy="1050498"/>
          </a:xfrm>
        </p:grpSpPr>
        <p:sp>
          <p:nvSpPr>
            <p:cNvPr id="25" name="矩形: 圆角 24"/>
            <p:cNvSpPr/>
            <p:nvPr/>
          </p:nvSpPr>
          <p:spPr>
            <a:xfrm>
              <a:off x="1125937" y="2695733"/>
              <a:ext cx="3230006" cy="1050498"/>
            </a:xfrm>
            <a:prstGeom prst="roundRect">
              <a:avLst/>
            </a:prstGeom>
            <a:solidFill>
              <a:srgbClr val="2F55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93527" y="2802965"/>
              <a:ext cx="3360965" cy="7673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lvl="0" algn="ctr">
                <a:lnSpc>
                  <a:spcPct val="114000"/>
                </a:lnSpc>
                <a:defRPr/>
              </a:pPr>
              <a:r>
                <a:rPr lang="zh-CN" altLang="en-US" sz="20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高通量物料精准定位与分离</a:t>
              </a:r>
              <a:endPara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>
                <a:lnSpc>
                  <a:spcPct val="114000"/>
                </a:lnSpc>
                <a:defRPr/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定位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识别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分选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喷吹一体化</a:t>
              </a:r>
              <a:endPara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856962" y="4535487"/>
            <a:ext cx="3360965" cy="1336071"/>
            <a:chOff x="1457367" y="4592665"/>
            <a:chExt cx="3360965" cy="1336071"/>
          </a:xfrm>
        </p:grpSpPr>
        <p:sp>
          <p:nvSpPr>
            <p:cNvPr id="28" name="矩形: 圆角 27"/>
            <p:cNvSpPr/>
            <p:nvPr/>
          </p:nvSpPr>
          <p:spPr>
            <a:xfrm>
              <a:off x="1509623" y="4592665"/>
              <a:ext cx="3230006" cy="1336071"/>
            </a:xfrm>
            <a:prstGeom prst="roundRect">
              <a:avLst/>
            </a:prstGeom>
            <a:solidFill>
              <a:srgbClr val="2F55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1457367" y="4596040"/>
              <a:ext cx="3360965" cy="1161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全粒级智能分选工艺优化</a:t>
              </a:r>
              <a:endPara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>
                <a:lnSpc>
                  <a:spcPct val="114000"/>
                </a:lnSpc>
                <a:defRPr/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不同粒级矿石的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射线衰减</a:t>
              </a:r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特性与能量调控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机制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3684778" y="2094082"/>
            <a:ext cx="1240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低品位</a:t>
            </a:r>
            <a:endPara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识别难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3674556" y="3512601"/>
            <a:ext cx="1240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高通量</a:t>
            </a:r>
            <a:endPara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协同难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1179481" y="4359840"/>
            <a:ext cx="1321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F1115"/>
                </a:solidFill>
                <a:latin typeface="quote-cjk-patch"/>
              </a:rPr>
              <a:t>工业级处理量</a:t>
            </a:r>
            <a:endParaRPr lang="zh-CN" altLang="en-US" sz="1400" dirty="0"/>
          </a:p>
        </p:txBody>
      </p:sp>
      <p:sp>
        <p:nvSpPr>
          <p:cNvPr id="33" name="矩形 32"/>
          <p:cNvSpPr/>
          <p:nvPr/>
        </p:nvSpPr>
        <p:spPr>
          <a:xfrm>
            <a:off x="889946" y="1092616"/>
            <a:ext cx="1930256" cy="461665"/>
          </a:xfrm>
          <a:prstGeom prst="rect">
            <a:avLst/>
          </a:prstGeom>
          <a:solidFill>
            <a:srgbClr val="2F5597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工程难点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356908" y="5824341"/>
            <a:ext cx="1101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F1115"/>
                </a:solidFill>
                <a:latin typeface="quote-cjk-patch"/>
              </a:rPr>
              <a:t>粒级差异大</a:t>
            </a:r>
            <a:endParaRPr lang="zh-CN" altLang="en-US" sz="1400" dirty="0"/>
          </a:p>
        </p:txBody>
      </p:sp>
      <p:grpSp>
        <p:nvGrpSpPr>
          <p:cNvPr id="35" name="组合 34"/>
          <p:cNvGrpSpPr/>
          <p:nvPr/>
        </p:nvGrpSpPr>
        <p:grpSpPr>
          <a:xfrm>
            <a:off x="1179481" y="4815871"/>
            <a:ext cx="1456520" cy="972511"/>
            <a:chOff x="1192800" y="4725822"/>
            <a:chExt cx="1192546" cy="995834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9072" b="19087"/>
            <a:stretch>
              <a:fillRect/>
            </a:stretch>
          </p:blipFill>
          <p:spPr>
            <a:xfrm>
              <a:off x="1192800" y="4726645"/>
              <a:ext cx="1192546" cy="991081"/>
            </a:xfrm>
            <a:prstGeom prst="rect">
              <a:avLst/>
            </a:prstGeom>
          </p:spPr>
        </p:pic>
        <p:sp>
          <p:nvSpPr>
            <p:cNvPr id="37" name="椭圆 36"/>
            <p:cNvSpPr/>
            <p:nvPr/>
          </p:nvSpPr>
          <p:spPr>
            <a:xfrm rot="1149564">
              <a:off x="1649112" y="4725822"/>
              <a:ext cx="456782" cy="979447"/>
            </a:xfrm>
            <a:prstGeom prst="ellipse">
              <a:avLst/>
            </a:prstGeom>
            <a:noFill/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 rot="1149564">
              <a:off x="2012905" y="5546573"/>
              <a:ext cx="252277" cy="175083"/>
            </a:xfrm>
            <a:prstGeom prst="ellipse">
              <a:avLst/>
            </a:prstGeom>
            <a:noFill/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9" name="图片 3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481" y="3319188"/>
            <a:ext cx="1456520" cy="991146"/>
          </a:xfrm>
          <a:prstGeom prst="rect">
            <a:avLst/>
          </a:prstGeom>
        </p:spPr>
      </p:pic>
      <p:sp>
        <p:nvSpPr>
          <p:cNvPr id="40" name="箭头: 右 39"/>
          <p:cNvSpPr/>
          <p:nvPr/>
        </p:nvSpPr>
        <p:spPr>
          <a:xfrm>
            <a:off x="3037787" y="2172400"/>
            <a:ext cx="394471" cy="355699"/>
          </a:xfrm>
          <a:prstGeom prst="rightArrow">
            <a:avLst>
              <a:gd name="adj1" fmla="val 47481"/>
              <a:gd name="adj2" fmla="val 45381"/>
            </a:avLst>
          </a:prstGeom>
          <a:solidFill>
            <a:schemeClr val="tx2">
              <a:lumMod val="40000"/>
              <a:lumOff val="60000"/>
            </a:schemeClr>
          </a:solidFill>
          <a:ln w="22225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箭头: 右 40"/>
          <p:cNvSpPr/>
          <p:nvPr/>
        </p:nvSpPr>
        <p:spPr>
          <a:xfrm>
            <a:off x="3015177" y="3620435"/>
            <a:ext cx="394471" cy="355699"/>
          </a:xfrm>
          <a:prstGeom prst="rightArrow">
            <a:avLst>
              <a:gd name="adj1" fmla="val 47481"/>
              <a:gd name="adj2" fmla="val 45381"/>
            </a:avLst>
          </a:prstGeom>
          <a:solidFill>
            <a:schemeClr val="tx2">
              <a:lumMod val="40000"/>
              <a:lumOff val="60000"/>
            </a:schemeClr>
          </a:solidFill>
          <a:ln w="22225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箭头: 右 41"/>
          <p:cNvSpPr/>
          <p:nvPr/>
        </p:nvSpPr>
        <p:spPr>
          <a:xfrm>
            <a:off x="3037787" y="5068471"/>
            <a:ext cx="394471" cy="355699"/>
          </a:xfrm>
          <a:prstGeom prst="rightArrow">
            <a:avLst>
              <a:gd name="adj1" fmla="val 47481"/>
              <a:gd name="adj2" fmla="val 45381"/>
            </a:avLst>
          </a:prstGeom>
          <a:solidFill>
            <a:schemeClr val="tx2">
              <a:lumMod val="40000"/>
              <a:lumOff val="60000"/>
            </a:schemeClr>
          </a:solidFill>
          <a:ln w="22225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2" grpId="0" animBg="1"/>
      <p:bldP spid="14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82"/>
            <a:ext cx="12192000" cy="63291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0" y="85725"/>
            <a:ext cx="12192000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二、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拟解决的关键技术问题、技术路线及技术目标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>
              <a:lnSpc>
                <a:spcPct val="100000"/>
              </a:lnSpc>
            </a:pPr>
            <a:endParaRPr 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 descr="江西铜业技术研究院有限公司横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24370" y="5871210"/>
            <a:ext cx="4913630" cy="761365"/>
          </a:xfrm>
          <a:prstGeom prst="rect">
            <a:avLst/>
          </a:prstGeom>
        </p:spPr>
      </p:pic>
      <p:sp>
        <p:nvSpPr>
          <p:cNvPr id="10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3433720-DAB8-4212-8ACA-18E895AA4092}" type="slidenum">
              <a:rPr lang="zh-CN" altLang="en-US" smtClean="0"/>
            </a:fld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181980" y="706218"/>
            <a:ext cx="43197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特征构建及融合多维特征的</a:t>
            </a:r>
            <a:endParaRPr lang="en-US" altLang="zh-CN" sz="2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智能分选算法</a:t>
            </a:r>
            <a:endParaRPr lang="zh-CN" altLang="en-US" sz="2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8" name="文本框 67" descr="7b0a202020202262756c6c6574223a20227b5c2263617465676f727949645c223a5c225c222c5c2274656d706c61746549645c223a32303233313634357d220a7d0a"/>
          <p:cNvSpPr txBox="1"/>
          <p:nvPr>
            <p:custDataLst>
              <p:tags r:id="rId3"/>
            </p:custDataLst>
          </p:nvPr>
        </p:nvSpPr>
        <p:spPr>
          <a:xfrm>
            <a:off x="2069037" y="3055055"/>
            <a:ext cx="81864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厚度点云</a:t>
            </a:r>
            <a:endParaRPr lang="zh-CN" altLang="en-US" sz="1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506732" y="1665398"/>
            <a:ext cx="19716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B1BDE1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多维特征构建</a:t>
            </a:r>
            <a:endParaRPr lang="zh-CN" altLang="en-US" sz="1600" dirty="0">
              <a:solidFill>
                <a:srgbClr val="B1BDE1">
                  <a:lumMod val="50000"/>
                </a:srgbClr>
              </a:solidFill>
              <a:ea typeface="宋体" panose="02010600030101010101" pitchFamily="2" charset="-122"/>
            </a:endParaRPr>
          </a:p>
        </p:txBody>
      </p:sp>
      <p:sp>
        <p:nvSpPr>
          <p:cNvPr id="70" name="文本框 69" descr="7b0a202020202262756c6c6574223a20227b5c2263617465676f727949645c223a5c225c222c5c2274656d706c61746549645c223a32303233313634357d220a7d0a"/>
          <p:cNvSpPr txBox="1"/>
          <p:nvPr>
            <p:custDataLst>
              <p:tags r:id="rId4"/>
            </p:custDataLst>
          </p:nvPr>
        </p:nvSpPr>
        <p:spPr>
          <a:xfrm>
            <a:off x="465017" y="3076595"/>
            <a:ext cx="95066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低能图像</a:t>
            </a:r>
            <a:endParaRPr lang="zh-CN" altLang="en-US" sz="1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 descr="7b0a202020202262756c6c6574223a20227b5c2263617465676f727949645c223a5c225c222c5c2274656d706c61746549645c223a32303233313634357d220a7d0a"/>
          <p:cNvSpPr txBox="1"/>
          <p:nvPr>
            <p:custDataLst>
              <p:tags r:id="rId5"/>
            </p:custDataLst>
          </p:nvPr>
        </p:nvSpPr>
        <p:spPr>
          <a:xfrm>
            <a:off x="1267859" y="3076595"/>
            <a:ext cx="863965" cy="3162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高能图像</a:t>
            </a:r>
            <a:endParaRPr lang="zh-CN" altLang="en-US" sz="1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2" name="图片 71" descr="high_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370584" y="2208750"/>
            <a:ext cx="705106" cy="822902"/>
          </a:xfrm>
          <a:prstGeom prst="rect">
            <a:avLst/>
          </a:prstGeom>
        </p:spPr>
      </p:pic>
      <p:pic>
        <p:nvPicPr>
          <p:cNvPr id="73" name="图片 72" descr="low_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04861" y="2208750"/>
            <a:ext cx="705106" cy="822902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198811" y="2326444"/>
            <a:ext cx="336014" cy="91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D574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altLang="zh-CN" b="1" dirty="0">
              <a:solidFill>
                <a:srgbClr val="D574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dirty="0">
              <a:solidFill>
                <a:srgbClr val="D57429"/>
              </a:solidFill>
              <a:ea typeface="宋体" panose="02010600030101010101" pitchFamily="2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841482" y="2330556"/>
            <a:ext cx="336014" cy="638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D574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zh-CN" altLang="en-US" dirty="0">
              <a:solidFill>
                <a:srgbClr val="D57429"/>
              </a:solidFill>
              <a:ea typeface="宋体" panose="02010600030101010101" pitchFamily="2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3197520" y="1792868"/>
            <a:ext cx="1555659" cy="1665470"/>
            <a:chOff x="11932671" y="-429741"/>
            <a:chExt cx="2950115" cy="2897585"/>
          </a:xfrm>
        </p:grpSpPr>
        <p:sp>
          <p:nvSpPr>
            <p:cNvPr id="77" name="Freeform 7"/>
            <p:cNvSpPr/>
            <p:nvPr/>
          </p:nvSpPr>
          <p:spPr bwMode="auto">
            <a:xfrm>
              <a:off x="12241538" y="1512776"/>
              <a:ext cx="1267950" cy="955068"/>
            </a:xfrm>
            <a:custGeom>
              <a:avLst/>
              <a:gdLst>
                <a:gd name="T0" fmla="*/ 6799 w 6799"/>
                <a:gd name="T1" fmla="*/ 5120 h 5122"/>
                <a:gd name="T2" fmla="*/ 6656 w 6799"/>
                <a:gd name="T3" fmla="*/ 5122 h 5122"/>
                <a:gd name="T4" fmla="*/ 0 w 6799"/>
                <a:gd name="T5" fmla="*/ 2040 h 5122"/>
                <a:gd name="T6" fmla="*/ 646 w 6799"/>
                <a:gd name="T7" fmla="*/ 169 h 5122"/>
                <a:gd name="T8" fmla="*/ 2343 w 6799"/>
                <a:gd name="T9" fmla="*/ 0 h 5122"/>
                <a:gd name="T10" fmla="*/ 6382 w 6799"/>
                <a:gd name="T11" fmla="*/ 2010 h 5122"/>
                <a:gd name="T12" fmla="*/ 5600 w 6799"/>
                <a:gd name="T13" fmla="*/ 3739 h 5122"/>
                <a:gd name="T14" fmla="*/ 6799 w 6799"/>
                <a:gd name="T15" fmla="*/ 5120 h 5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99" h="5122">
                  <a:moveTo>
                    <a:pt x="6799" y="5120"/>
                  </a:moveTo>
                  <a:cubicBezTo>
                    <a:pt x="6752" y="5121"/>
                    <a:pt x="6704" y="5122"/>
                    <a:pt x="6656" y="5122"/>
                  </a:cubicBezTo>
                  <a:cubicBezTo>
                    <a:pt x="3989" y="5122"/>
                    <a:pt x="1601" y="3925"/>
                    <a:pt x="0" y="2040"/>
                  </a:cubicBezTo>
                  <a:lnTo>
                    <a:pt x="646" y="169"/>
                  </a:lnTo>
                  <a:lnTo>
                    <a:pt x="2343" y="0"/>
                  </a:lnTo>
                  <a:cubicBezTo>
                    <a:pt x="3319" y="1167"/>
                    <a:pt x="4761" y="1932"/>
                    <a:pt x="6382" y="2010"/>
                  </a:cubicBezTo>
                  <a:lnTo>
                    <a:pt x="5600" y="3739"/>
                  </a:lnTo>
                  <a:lnTo>
                    <a:pt x="6799" y="5120"/>
                  </a:lnTo>
                  <a:close/>
                </a:path>
              </a:pathLst>
            </a:custGeom>
            <a:gradFill flip="none" rotWithShape="1">
              <a:gsLst>
                <a:gs pos="73000">
                  <a:srgbClr val="4874CB"/>
                </a:gs>
                <a:gs pos="31000">
                  <a:srgbClr val="4874CB">
                    <a:lumMod val="60000"/>
                    <a:lumOff val="40000"/>
                  </a:srgbClr>
                </a:gs>
                <a:gs pos="0">
                  <a:srgbClr val="4874CB">
                    <a:lumMod val="40000"/>
                    <a:lumOff val="60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Rectangle 13"/>
            <p:cNvSpPr/>
            <p:nvPr/>
          </p:nvSpPr>
          <p:spPr>
            <a:xfrm>
              <a:off x="12520210" y="1657735"/>
              <a:ext cx="675114" cy="6788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面积</a:t>
              </a:r>
              <a:endPara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Freeform 6"/>
            <p:cNvSpPr/>
            <p:nvPr/>
          </p:nvSpPr>
          <p:spPr bwMode="auto">
            <a:xfrm>
              <a:off x="11972859" y="370547"/>
              <a:ext cx="686532" cy="1469966"/>
            </a:xfrm>
            <a:custGeom>
              <a:avLst/>
              <a:gdLst>
                <a:gd name="T0" fmla="*/ 1229 w 3684"/>
                <a:gd name="T1" fmla="*/ 7876 h 7876"/>
                <a:gd name="T2" fmla="*/ 0 w 3684"/>
                <a:gd name="T3" fmla="*/ 3408 h 7876"/>
                <a:gd name="T4" fmla="*/ 543 w 3684"/>
                <a:gd name="T5" fmla="*/ 372 h 7876"/>
                <a:gd name="T6" fmla="*/ 2465 w 3684"/>
                <a:gd name="T7" fmla="*/ 0 h 7876"/>
                <a:gd name="T8" fmla="*/ 3473 w 3684"/>
                <a:gd name="T9" fmla="*/ 1405 h 7876"/>
                <a:gd name="T10" fmla="*/ 3106 w 3684"/>
                <a:gd name="T11" fmla="*/ 3408 h 7876"/>
                <a:gd name="T12" fmla="*/ 3684 w 3684"/>
                <a:gd name="T13" fmla="*/ 5894 h 7876"/>
                <a:gd name="T14" fmla="*/ 1850 w 3684"/>
                <a:gd name="T15" fmla="*/ 6076 h 7876"/>
                <a:gd name="T16" fmla="*/ 1229 w 3684"/>
                <a:gd name="T17" fmla="*/ 7876 h 7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84" h="7876">
                  <a:moveTo>
                    <a:pt x="1229" y="7876"/>
                  </a:moveTo>
                  <a:cubicBezTo>
                    <a:pt x="449" y="6569"/>
                    <a:pt x="0" y="5041"/>
                    <a:pt x="0" y="3408"/>
                  </a:cubicBezTo>
                  <a:cubicBezTo>
                    <a:pt x="0" y="2340"/>
                    <a:pt x="192" y="1318"/>
                    <a:pt x="543" y="372"/>
                  </a:cubicBezTo>
                  <a:lnTo>
                    <a:pt x="2465" y="0"/>
                  </a:lnTo>
                  <a:lnTo>
                    <a:pt x="3473" y="1405"/>
                  </a:lnTo>
                  <a:cubicBezTo>
                    <a:pt x="3236" y="2028"/>
                    <a:pt x="3106" y="2703"/>
                    <a:pt x="3106" y="3408"/>
                  </a:cubicBezTo>
                  <a:cubicBezTo>
                    <a:pt x="3106" y="4301"/>
                    <a:pt x="3314" y="5144"/>
                    <a:pt x="3684" y="5894"/>
                  </a:cubicBezTo>
                  <a:lnTo>
                    <a:pt x="1850" y="6076"/>
                  </a:lnTo>
                  <a:lnTo>
                    <a:pt x="1229" y="7876"/>
                  </a:lnTo>
                  <a:close/>
                </a:path>
              </a:pathLst>
            </a:custGeom>
            <a:gradFill flip="none" rotWithShape="1">
              <a:gsLst>
                <a:gs pos="73000">
                  <a:srgbClr val="4874CB"/>
                </a:gs>
                <a:gs pos="31000">
                  <a:srgbClr val="4874CB">
                    <a:lumMod val="60000"/>
                    <a:lumOff val="40000"/>
                  </a:srgbClr>
                </a:gs>
                <a:gs pos="0">
                  <a:srgbClr val="4874CB">
                    <a:lumMod val="40000"/>
                    <a:lumOff val="60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Rectangle 14"/>
            <p:cNvSpPr/>
            <p:nvPr/>
          </p:nvSpPr>
          <p:spPr>
            <a:xfrm>
              <a:off x="11932671" y="754479"/>
              <a:ext cx="656567" cy="6546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双能</a:t>
              </a:r>
              <a:endPara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</a:t>
              </a:r>
              <a:endPara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Freeform 5"/>
            <p:cNvSpPr/>
            <p:nvPr/>
          </p:nvSpPr>
          <p:spPr bwMode="auto">
            <a:xfrm>
              <a:off x="12109532" y="-429741"/>
              <a:ext cx="1378814" cy="1015016"/>
            </a:xfrm>
            <a:custGeom>
              <a:avLst/>
              <a:gdLst>
                <a:gd name="T0" fmla="*/ 0 w 7393"/>
                <a:gd name="T1" fmla="*/ 4258 h 5439"/>
                <a:gd name="T2" fmla="*/ 6178 w 7393"/>
                <a:gd name="T3" fmla="*/ 0 h 5439"/>
                <a:gd name="T4" fmla="*/ 7393 w 7393"/>
                <a:gd name="T5" fmla="*/ 1399 h 5439"/>
                <a:gd name="T6" fmla="*/ 6636 w 7393"/>
                <a:gd name="T7" fmla="*/ 3072 h 5439"/>
                <a:gd name="T8" fmla="*/ 2925 w 7393"/>
                <a:gd name="T9" fmla="*/ 5439 h 5439"/>
                <a:gd name="T10" fmla="*/ 1824 w 7393"/>
                <a:gd name="T11" fmla="*/ 3905 h 5439"/>
                <a:gd name="T12" fmla="*/ 0 w 7393"/>
                <a:gd name="T13" fmla="*/ 4258 h 5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93" h="5439">
                  <a:moveTo>
                    <a:pt x="0" y="4258"/>
                  </a:moveTo>
                  <a:cubicBezTo>
                    <a:pt x="1289" y="2028"/>
                    <a:pt x="3536" y="421"/>
                    <a:pt x="6178" y="0"/>
                  </a:cubicBezTo>
                  <a:lnTo>
                    <a:pt x="7393" y="1399"/>
                  </a:lnTo>
                  <a:lnTo>
                    <a:pt x="6636" y="3072"/>
                  </a:lnTo>
                  <a:cubicBezTo>
                    <a:pt x="5099" y="3327"/>
                    <a:pt x="3772" y="4206"/>
                    <a:pt x="2925" y="5439"/>
                  </a:cubicBezTo>
                  <a:lnTo>
                    <a:pt x="1824" y="3905"/>
                  </a:lnTo>
                  <a:lnTo>
                    <a:pt x="0" y="4258"/>
                  </a:lnTo>
                  <a:close/>
                </a:path>
              </a:pathLst>
            </a:custGeom>
            <a:gradFill flip="none" rotWithShape="1">
              <a:gsLst>
                <a:gs pos="73000">
                  <a:srgbClr val="4874CB"/>
                </a:gs>
                <a:gs pos="31000">
                  <a:srgbClr val="4874CB">
                    <a:lumMod val="60000"/>
                    <a:lumOff val="40000"/>
                  </a:srgbClr>
                </a:gs>
                <a:gs pos="0">
                  <a:srgbClr val="4874CB">
                    <a:lumMod val="40000"/>
                    <a:lumOff val="60000"/>
                  </a:srgbClr>
                </a:gs>
              </a:gsLst>
              <a:lin ang="81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15"/>
            <p:cNvSpPr/>
            <p:nvPr/>
          </p:nvSpPr>
          <p:spPr>
            <a:xfrm>
              <a:off x="12456185" y="-275141"/>
              <a:ext cx="675115" cy="6788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梯度</a:t>
              </a:r>
              <a:endPara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Freeform 8"/>
            <p:cNvSpPr/>
            <p:nvPr/>
          </p:nvSpPr>
          <p:spPr bwMode="auto">
            <a:xfrm>
              <a:off x="13351003" y="1413592"/>
              <a:ext cx="1351713" cy="1038832"/>
            </a:xfrm>
            <a:custGeom>
              <a:avLst/>
              <a:gdLst>
                <a:gd name="T0" fmla="*/ 7251 w 7251"/>
                <a:gd name="T1" fmla="*/ 1295 h 5564"/>
                <a:gd name="T2" fmla="*/ 1248 w 7251"/>
                <a:gd name="T3" fmla="*/ 5564 h 5564"/>
                <a:gd name="T4" fmla="*/ 0 w 7251"/>
                <a:gd name="T5" fmla="*/ 4126 h 5564"/>
                <a:gd name="T6" fmla="*/ 736 w 7251"/>
                <a:gd name="T7" fmla="*/ 2500 h 5564"/>
                <a:gd name="T8" fmla="*/ 4406 w 7251"/>
                <a:gd name="T9" fmla="*/ 0 h 5564"/>
                <a:gd name="T10" fmla="*/ 5569 w 7251"/>
                <a:gd name="T11" fmla="*/ 1621 h 5564"/>
                <a:gd name="T12" fmla="*/ 7251 w 7251"/>
                <a:gd name="T13" fmla="*/ 1295 h 5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51" h="5564">
                  <a:moveTo>
                    <a:pt x="7251" y="1295"/>
                  </a:moveTo>
                  <a:cubicBezTo>
                    <a:pt x="5999" y="3492"/>
                    <a:pt x="3821" y="5092"/>
                    <a:pt x="1248" y="5564"/>
                  </a:cubicBezTo>
                  <a:lnTo>
                    <a:pt x="0" y="4126"/>
                  </a:lnTo>
                  <a:lnTo>
                    <a:pt x="736" y="2500"/>
                  </a:lnTo>
                  <a:cubicBezTo>
                    <a:pt x="2275" y="2202"/>
                    <a:pt x="3591" y="1276"/>
                    <a:pt x="4406" y="0"/>
                  </a:cubicBezTo>
                  <a:lnTo>
                    <a:pt x="5569" y="1621"/>
                  </a:lnTo>
                  <a:lnTo>
                    <a:pt x="7251" y="1295"/>
                  </a:lnTo>
                  <a:close/>
                </a:path>
              </a:pathLst>
            </a:custGeom>
            <a:gradFill flip="none" rotWithShape="1">
              <a:gsLst>
                <a:gs pos="73000">
                  <a:srgbClr val="4874CB"/>
                </a:gs>
                <a:gs pos="31000">
                  <a:srgbClr val="4874CB">
                    <a:lumMod val="60000"/>
                    <a:lumOff val="40000"/>
                  </a:srgbClr>
                </a:gs>
                <a:gs pos="0">
                  <a:srgbClr val="4874CB">
                    <a:lumMod val="40000"/>
                    <a:lumOff val="6000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Rectangle 18"/>
            <p:cNvSpPr/>
            <p:nvPr/>
          </p:nvSpPr>
          <p:spPr>
            <a:xfrm>
              <a:off x="13616449" y="1680494"/>
              <a:ext cx="675114" cy="6788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纹理</a:t>
              </a:r>
              <a:endPara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Freeform 10"/>
            <p:cNvSpPr/>
            <p:nvPr/>
          </p:nvSpPr>
          <p:spPr bwMode="auto">
            <a:xfrm>
              <a:off x="13339271" y="-421767"/>
              <a:ext cx="1244136" cy="946033"/>
            </a:xfrm>
            <a:custGeom>
              <a:avLst/>
              <a:gdLst>
                <a:gd name="T0" fmla="*/ 0 w 6671"/>
                <a:gd name="T1" fmla="*/ 0 h 5070"/>
                <a:gd name="T2" fmla="*/ 6671 w 6671"/>
                <a:gd name="T3" fmla="*/ 3202 h 5070"/>
                <a:gd name="T4" fmla="*/ 6092 w 6671"/>
                <a:gd name="T5" fmla="*/ 4880 h 5070"/>
                <a:gd name="T6" fmla="*/ 4184 w 6671"/>
                <a:gd name="T7" fmla="*/ 5070 h 5070"/>
                <a:gd name="T8" fmla="*/ 319 w 6671"/>
                <a:gd name="T9" fmla="*/ 3119 h 5070"/>
                <a:gd name="T10" fmla="*/ 1137 w 6671"/>
                <a:gd name="T11" fmla="*/ 1310 h 5070"/>
                <a:gd name="T12" fmla="*/ 0 w 6671"/>
                <a:gd name="T13" fmla="*/ 0 h 5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71" h="5070">
                  <a:moveTo>
                    <a:pt x="0" y="0"/>
                  </a:moveTo>
                  <a:cubicBezTo>
                    <a:pt x="2689" y="26"/>
                    <a:pt x="5087" y="1268"/>
                    <a:pt x="6671" y="3202"/>
                  </a:cubicBezTo>
                  <a:lnTo>
                    <a:pt x="6092" y="4880"/>
                  </a:lnTo>
                  <a:lnTo>
                    <a:pt x="4184" y="5070"/>
                  </a:lnTo>
                  <a:cubicBezTo>
                    <a:pt x="3235" y="3963"/>
                    <a:pt x="1863" y="3229"/>
                    <a:pt x="319" y="3119"/>
                  </a:cubicBezTo>
                  <a:lnTo>
                    <a:pt x="1137" y="131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73000">
                  <a:srgbClr val="4874CB"/>
                </a:gs>
                <a:gs pos="31000">
                  <a:srgbClr val="4874CB">
                    <a:lumMod val="60000"/>
                    <a:lumOff val="40000"/>
                  </a:srgbClr>
                </a:gs>
                <a:gs pos="0">
                  <a:srgbClr val="4874CB">
                    <a:lumMod val="40000"/>
                    <a:lumOff val="60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Rectangle 19"/>
            <p:cNvSpPr/>
            <p:nvPr/>
          </p:nvSpPr>
          <p:spPr>
            <a:xfrm>
              <a:off x="13699763" y="-270100"/>
              <a:ext cx="656568" cy="6546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统计</a:t>
              </a:r>
              <a:endPara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</a:t>
              </a:r>
              <a:endPara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Freeform 9"/>
            <p:cNvSpPr/>
            <p:nvPr/>
          </p:nvSpPr>
          <p:spPr bwMode="auto">
            <a:xfrm>
              <a:off x="14137511" y="241934"/>
              <a:ext cx="691463" cy="1427265"/>
            </a:xfrm>
            <a:custGeom>
              <a:avLst/>
              <a:gdLst>
                <a:gd name="T0" fmla="*/ 2571 w 3710"/>
                <a:gd name="T1" fmla="*/ 0 h 7650"/>
                <a:gd name="T2" fmla="*/ 3710 w 3710"/>
                <a:gd name="T3" fmla="*/ 4314 h 7650"/>
                <a:gd name="T4" fmla="*/ 3184 w 3710"/>
                <a:gd name="T5" fmla="*/ 7307 h 7650"/>
                <a:gd name="T6" fmla="*/ 1413 w 3710"/>
                <a:gd name="T7" fmla="*/ 7650 h 7650"/>
                <a:gd name="T8" fmla="*/ 310 w 3710"/>
                <a:gd name="T9" fmla="*/ 6113 h 7650"/>
                <a:gd name="T10" fmla="*/ 604 w 3710"/>
                <a:gd name="T11" fmla="*/ 4314 h 7650"/>
                <a:gd name="T12" fmla="*/ 0 w 3710"/>
                <a:gd name="T13" fmla="*/ 1775 h 7650"/>
                <a:gd name="T14" fmla="*/ 2028 w 3710"/>
                <a:gd name="T15" fmla="*/ 1574 h 7650"/>
                <a:gd name="T16" fmla="*/ 2571 w 3710"/>
                <a:gd name="T17" fmla="*/ 0 h 7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10" h="7650">
                  <a:moveTo>
                    <a:pt x="2571" y="0"/>
                  </a:moveTo>
                  <a:cubicBezTo>
                    <a:pt x="3296" y="1272"/>
                    <a:pt x="3710" y="2745"/>
                    <a:pt x="3710" y="4314"/>
                  </a:cubicBezTo>
                  <a:cubicBezTo>
                    <a:pt x="3710" y="5366"/>
                    <a:pt x="3524" y="6374"/>
                    <a:pt x="3184" y="7307"/>
                  </a:cubicBezTo>
                  <a:lnTo>
                    <a:pt x="1413" y="7650"/>
                  </a:lnTo>
                  <a:lnTo>
                    <a:pt x="310" y="6113"/>
                  </a:lnTo>
                  <a:cubicBezTo>
                    <a:pt x="501" y="5548"/>
                    <a:pt x="604" y="4943"/>
                    <a:pt x="604" y="4314"/>
                  </a:cubicBezTo>
                  <a:cubicBezTo>
                    <a:pt x="604" y="3400"/>
                    <a:pt x="386" y="2538"/>
                    <a:pt x="0" y="1775"/>
                  </a:cubicBezTo>
                  <a:lnTo>
                    <a:pt x="2028" y="1574"/>
                  </a:lnTo>
                  <a:lnTo>
                    <a:pt x="2571" y="0"/>
                  </a:lnTo>
                  <a:close/>
                </a:path>
              </a:pathLst>
            </a:custGeom>
            <a:gradFill flip="none" rotWithShape="1">
              <a:gsLst>
                <a:gs pos="73000">
                  <a:srgbClr val="4874CB"/>
                </a:gs>
                <a:gs pos="31000">
                  <a:srgbClr val="4874CB">
                    <a:lumMod val="60000"/>
                    <a:lumOff val="40000"/>
                  </a:srgbClr>
                </a:gs>
                <a:gs pos="0">
                  <a:srgbClr val="4874CB">
                    <a:lumMod val="40000"/>
                    <a:lumOff val="6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Rectangle 20"/>
            <p:cNvSpPr/>
            <p:nvPr/>
          </p:nvSpPr>
          <p:spPr>
            <a:xfrm>
              <a:off x="14207671" y="719321"/>
              <a:ext cx="675115" cy="6788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厚度</a:t>
              </a:r>
              <a:endPara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 21"/>
            <p:cNvSpPr/>
            <p:nvPr/>
          </p:nvSpPr>
          <p:spPr>
            <a:xfrm>
              <a:off x="12625746" y="691612"/>
              <a:ext cx="1545401" cy="8243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多维特征融合</a:t>
              </a: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0" name="矩形 32"/>
          <p:cNvSpPr/>
          <p:nvPr/>
        </p:nvSpPr>
        <p:spPr>
          <a:xfrm>
            <a:off x="128772" y="1493582"/>
            <a:ext cx="4683253" cy="4565815"/>
          </a:xfrm>
          <a:prstGeom prst="rect">
            <a:avLst/>
          </a:prstGeom>
          <a:noFill/>
          <a:ln w="25400" cap="flat" cmpd="sng" algn="ctr">
            <a:solidFill>
              <a:srgbClr val="4874CB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066250" y="2269554"/>
            <a:ext cx="824219" cy="702613"/>
          </a:xfrm>
          <a:prstGeom prst="rect">
            <a:avLst/>
          </a:prstGeom>
        </p:spPr>
      </p:pic>
      <p:grpSp>
        <p:nvGrpSpPr>
          <p:cNvPr id="235" name="组合 234"/>
          <p:cNvGrpSpPr/>
          <p:nvPr/>
        </p:nvGrpSpPr>
        <p:grpSpPr>
          <a:xfrm>
            <a:off x="417560" y="3776490"/>
            <a:ext cx="4158400" cy="2115152"/>
            <a:chOff x="3625" y="2252"/>
            <a:chExt cx="10416" cy="6422"/>
          </a:xfrm>
        </p:grpSpPr>
        <p:grpSp>
          <p:nvGrpSpPr>
            <p:cNvPr id="236" name="组合 235"/>
            <p:cNvGrpSpPr/>
            <p:nvPr/>
          </p:nvGrpSpPr>
          <p:grpSpPr>
            <a:xfrm>
              <a:off x="7200" y="2861"/>
              <a:ext cx="3273" cy="1686"/>
              <a:chOff x="7194239" y="1644087"/>
              <a:chExt cx="2438824" cy="1345922"/>
            </a:xfrm>
          </p:grpSpPr>
          <p:sp>
            <p:nvSpPr>
              <p:cNvPr id="271" name="立方体 270"/>
              <p:cNvSpPr/>
              <p:nvPr/>
            </p:nvSpPr>
            <p:spPr bwMode="auto">
              <a:xfrm>
                <a:off x="7194239" y="1644088"/>
                <a:ext cx="484095" cy="1345921"/>
              </a:xfrm>
              <a:prstGeom prst="cube">
                <a:avLst>
                  <a:gd name="adj" fmla="val 65623"/>
                </a:avLst>
              </a:prstGeom>
              <a:solidFill>
                <a:srgbClr val="B1BDE1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72" name="立方体 271"/>
              <p:cNvSpPr/>
              <p:nvPr/>
            </p:nvSpPr>
            <p:spPr bwMode="auto">
              <a:xfrm>
                <a:off x="7577535" y="1809834"/>
                <a:ext cx="484095" cy="1095724"/>
              </a:xfrm>
              <a:prstGeom prst="cube">
                <a:avLst>
                  <a:gd name="adj" fmla="val 65623"/>
                </a:avLst>
              </a:prstGeom>
              <a:solidFill>
                <a:srgbClr val="B1BDE1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73" name="立方体 272"/>
              <p:cNvSpPr/>
              <p:nvPr/>
            </p:nvSpPr>
            <p:spPr bwMode="auto">
              <a:xfrm>
                <a:off x="7992586" y="1898271"/>
                <a:ext cx="323044" cy="918849"/>
              </a:xfrm>
              <a:prstGeom prst="cube">
                <a:avLst>
                  <a:gd name="adj" fmla="val 65623"/>
                </a:avLst>
              </a:prstGeom>
              <a:solidFill>
                <a:srgbClr val="B1BDE1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74" name="立方体 273"/>
              <p:cNvSpPr/>
              <p:nvPr/>
            </p:nvSpPr>
            <p:spPr bwMode="auto">
              <a:xfrm>
                <a:off x="9148968" y="1644087"/>
                <a:ext cx="484095" cy="1345921"/>
              </a:xfrm>
              <a:prstGeom prst="cube">
                <a:avLst>
                  <a:gd name="adj" fmla="val 65623"/>
                </a:avLst>
              </a:prstGeom>
              <a:solidFill>
                <a:srgbClr val="B1BDE1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5" name="立方体 274"/>
              <p:cNvSpPr/>
              <p:nvPr/>
            </p:nvSpPr>
            <p:spPr bwMode="auto">
              <a:xfrm>
                <a:off x="8652921" y="1809832"/>
                <a:ext cx="484095" cy="1095724"/>
              </a:xfrm>
              <a:prstGeom prst="cube">
                <a:avLst>
                  <a:gd name="adj" fmla="val 65623"/>
                </a:avLst>
              </a:prstGeom>
              <a:solidFill>
                <a:srgbClr val="B1BDE1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76" name="立方体 275"/>
              <p:cNvSpPr/>
              <p:nvPr/>
            </p:nvSpPr>
            <p:spPr bwMode="auto">
              <a:xfrm>
                <a:off x="8323482" y="1898270"/>
                <a:ext cx="323044" cy="918849"/>
              </a:xfrm>
              <a:prstGeom prst="cube">
                <a:avLst>
                  <a:gd name="adj" fmla="val 65623"/>
                </a:avLst>
              </a:prstGeom>
              <a:solidFill>
                <a:srgbClr val="B1BDE1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p:grpSp>
        <p:sp>
          <p:nvSpPr>
            <p:cNvPr id="237" name="文本框 236"/>
            <p:cNvSpPr txBox="1"/>
            <p:nvPr/>
          </p:nvSpPr>
          <p:spPr>
            <a:xfrm>
              <a:off x="7080" y="2252"/>
              <a:ext cx="3420" cy="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图像特征网络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文本框 237" descr="7b0a202020202262756c6c6574223a20227b5c2263617465676f727949645c223a5c225c222c5c2274656d706c61746549645c223a32303233313634357d220a7d0a"/>
            <p:cNvSpPr txBox="1"/>
            <p:nvPr/>
          </p:nvSpPr>
          <p:spPr>
            <a:xfrm>
              <a:off x="3625" y="2774"/>
              <a:ext cx="2591" cy="771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低能图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像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文本框 238" descr="7b0a202020202262756c6c6574223a20227b5c2263617465676f727949645c223a5c225c222c5c2274656d706c61746549645c223a32303233313634357d220a7d0a"/>
            <p:cNvSpPr txBox="1"/>
            <p:nvPr/>
          </p:nvSpPr>
          <p:spPr>
            <a:xfrm>
              <a:off x="3629" y="3853"/>
              <a:ext cx="2553" cy="771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000" kern="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高能</a:t>
              </a:r>
              <a:r>
                <a:rPr lang="zh-CN" altLang="en-US" sz="800" kern="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</a:t>
              </a:r>
              <a:endParaRPr lang="zh-CN" altLang="en-US" sz="8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文本框 239" descr="7b0a202020202262756c6c6574223a20227b5c2263617465676f727949645c223a5c225c222c5c2274656d706c61746549645c223a32303233313634357d220a7d0a"/>
            <p:cNvSpPr txBox="1"/>
            <p:nvPr/>
          </p:nvSpPr>
          <p:spPr>
            <a:xfrm>
              <a:off x="3837" y="5391"/>
              <a:ext cx="2345" cy="748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defRPr/>
              </a:pPr>
              <a:r>
                <a:rPr kumimoji="0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点云数据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1" name="文本框 240" descr="7b0a202020202262756c6c6574223a20227b5c2263617465676f727949645c223a5c225c222c5c2274656d706c61746549645c223a32303233313634357d220a7d0a"/>
            <p:cNvSpPr txBox="1"/>
            <p:nvPr/>
          </p:nvSpPr>
          <p:spPr>
            <a:xfrm>
              <a:off x="3837" y="7466"/>
              <a:ext cx="2379" cy="748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defRPr/>
              </a:pPr>
              <a:r>
                <a:rPr kumimoji="0" lang="en-US" altLang="zh-CN" sz="8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成像条件</a:t>
              </a:r>
              <a:endPara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文本框 241" descr="7b0a202020202262756c6c6574223a20227b5c2263617465676f727949645c223a5c225c222c5c2274656d706c61746549645c223a32303233313731347d220a7d0a"/>
            <p:cNvSpPr txBox="1"/>
            <p:nvPr/>
          </p:nvSpPr>
          <p:spPr>
            <a:xfrm>
              <a:off x="11670" y="3153"/>
              <a:ext cx="2045" cy="748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marR="0" lvl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矿石轮廓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文本框 242" descr="7b0a202020202262756c6c6574223a20227b5c2263617465676f727949645c223a5c225c222c5c2274656d706c61746549645c223a32303233313731347d220a7d0a"/>
            <p:cNvSpPr txBox="1"/>
            <p:nvPr/>
          </p:nvSpPr>
          <p:spPr>
            <a:xfrm>
              <a:off x="11694" y="7522"/>
              <a:ext cx="2161" cy="748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marR="0" lvl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矿石类别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4" name="直接箭头连接符 243"/>
            <p:cNvCxnSpPr/>
            <p:nvPr/>
          </p:nvCxnSpPr>
          <p:spPr>
            <a:xfrm flipV="1">
              <a:off x="6636" y="3584"/>
              <a:ext cx="651" cy="4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tailEnd type="arrow"/>
            </a:ln>
            <a:effectLst/>
          </p:spPr>
        </p:cxnSp>
        <p:grpSp>
          <p:nvGrpSpPr>
            <p:cNvPr id="245" name="组合 244"/>
            <p:cNvGrpSpPr/>
            <p:nvPr/>
          </p:nvGrpSpPr>
          <p:grpSpPr>
            <a:xfrm>
              <a:off x="7200" y="4946"/>
              <a:ext cx="3273" cy="1686"/>
              <a:chOff x="7194239" y="1644087"/>
              <a:chExt cx="2438824" cy="1345922"/>
            </a:xfrm>
          </p:grpSpPr>
          <p:sp>
            <p:nvSpPr>
              <p:cNvPr id="265" name="立方体 264"/>
              <p:cNvSpPr/>
              <p:nvPr/>
            </p:nvSpPr>
            <p:spPr bwMode="auto">
              <a:xfrm>
                <a:off x="7194239" y="1644088"/>
                <a:ext cx="484095" cy="1345921"/>
              </a:xfrm>
              <a:prstGeom prst="cube">
                <a:avLst>
                  <a:gd name="adj" fmla="val 65623"/>
                </a:avLst>
              </a:prstGeom>
              <a:solidFill>
                <a:srgbClr val="000000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66" name="立方体 265"/>
              <p:cNvSpPr/>
              <p:nvPr/>
            </p:nvSpPr>
            <p:spPr bwMode="auto">
              <a:xfrm>
                <a:off x="7577535" y="1809834"/>
                <a:ext cx="484095" cy="1095724"/>
              </a:xfrm>
              <a:prstGeom prst="cube">
                <a:avLst>
                  <a:gd name="adj" fmla="val 65623"/>
                </a:avLst>
              </a:prstGeom>
              <a:solidFill>
                <a:srgbClr val="000000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67" name="立方体 266"/>
              <p:cNvSpPr/>
              <p:nvPr/>
            </p:nvSpPr>
            <p:spPr bwMode="auto">
              <a:xfrm>
                <a:off x="7992586" y="1898271"/>
                <a:ext cx="323044" cy="918849"/>
              </a:xfrm>
              <a:prstGeom prst="cube">
                <a:avLst>
                  <a:gd name="adj" fmla="val 65623"/>
                </a:avLst>
              </a:prstGeom>
              <a:solidFill>
                <a:srgbClr val="000000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68" name="立方体 267"/>
              <p:cNvSpPr/>
              <p:nvPr/>
            </p:nvSpPr>
            <p:spPr bwMode="auto">
              <a:xfrm>
                <a:off x="9148968" y="1644087"/>
                <a:ext cx="484095" cy="1345921"/>
              </a:xfrm>
              <a:prstGeom prst="cube">
                <a:avLst>
                  <a:gd name="adj" fmla="val 65623"/>
                </a:avLst>
              </a:prstGeom>
              <a:solidFill>
                <a:srgbClr val="000000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69" name="立方体 268"/>
              <p:cNvSpPr/>
              <p:nvPr/>
            </p:nvSpPr>
            <p:spPr bwMode="auto">
              <a:xfrm>
                <a:off x="8652921" y="1809832"/>
                <a:ext cx="484095" cy="1095724"/>
              </a:xfrm>
              <a:prstGeom prst="cube">
                <a:avLst>
                  <a:gd name="adj" fmla="val 65623"/>
                </a:avLst>
              </a:prstGeom>
              <a:solidFill>
                <a:srgbClr val="000000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0" name="立方体 269"/>
              <p:cNvSpPr/>
              <p:nvPr/>
            </p:nvSpPr>
            <p:spPr bwMode="auto">
              <a:xfrm>
                <a:off x="8323482" y="1898270"/>
                <a:ext cx="323044" cy="918849"/>
              </a:xfrm>
              <a:prstGeom prst="cube">
                <a:avLst>
                  <a:gd name="adj" fmla="val 65623"/>
                </a:avLst>
              </a:prstGeom>
              <a:solidFill>
                <a:srgbClr val="000000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p:grpSp>
        <p:sp>
          <p:nvSpPr>
            <p:cNvPr id="246" name="文本框 245"/>
            <p:cNvSpPr txBox="1"/>
            <p:nvPr/>
          </p:nvSpPr>
          <p:spPr>
            <a:xfrm>
              <a:off x="7401" y="4390"/>
              <a:ext cx="3205" cy="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点云特征网络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7" name="直接箭头连接符 246"/>
            <p:cNvCxnSpPr/>
            <p:nvPr/>
          </p:nvCxnSpPr>
          <p:spPr>
            <a:xfrm flipV="1">
              <a:off x="6429" y="5921"/>
              <a:ext cx="651" cy="4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tailEnd type="arrow"/>
            </a:ln>
            <a:effectLst/>
          </p:spPr>
        </p:cxnSp>
        <p:grpSp>
          <p:nvGrpSpPr>
            <p:cNvPr id="248" name="组合 247"/>
            <p:cNvGrpSpPr/>
            <p:nvPr/>
          </p:nvGrpSpPr>
          <p:grpSpPr>
            <a:xfrm>
              <a:off x="7199" y="6988"/>
              <a:ext cx="3274" cy="1686"/>
              <a:chOff x="7194239" y="1644088"/>
              <a:chExt cx="2439770" cy="1345981"/>
            </a:xfrm>
          </p:grpSpPr>
          <p:sp>
            <p:nvSpPr>
              <p:cNvPr id="259" name="立方体 258"/>
              <p:cNvSpPr/>
              <p:nvPr/>
            </p:nvSpPr>
            <p:spPr bwMode="auto">
              <a:xfrm>
                <a:off x="7194239" y="1644088"/>
                <a:ext cx="484095" cy="1345921"/>
              </a:xfrm>
              <a:prstGeom prst="cube">
                <a:avLst>
                  <a:gd name="adj" fmla="val 65623"/>
                </a:avLst>
              </a:prstGeom>
              <a:solidFill>
                <a:srgbClr val="FFFFFF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60" name="立方体 259"/>
              <p:cNvSpPr/>
              <p:nvPr/>
            </p:nvSpPr>
            <p:spPr bwMode="auto">
              <a:xfrm>
                <a:off x="7577535" y="1809834"/>
                <a:ext cx="484095" cy="1095724"/>
              </a:xfrm>
              <a:prstGeom prst="cube">
                <a:avLst>
                  <a:gd name="adj" fmla="val 65623"/>
                </a:avLst>
              </a:prstGeom>
              <a:solidFill>
                <a:srgbClr val="FFFFFF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61" name="立方体 260"/>
              <p:cNvSpPr/>
              <p:nvPr/>
            </p:nvSpPr>
            <p:spPr bwMode="auto">
              <a:xfrm>
                <a:off x="7992586" y="1898271"/>
                <a:ext cx="323044" cy="918849"/>
              </a:xfrm>
              <a:prstGeom prst="cube">
                <a:avLst>
                  <a:gd name="adj" fmla="val 65623"/>
                </a:avLst>
              </a:prstGeom>
              <a:solidFill>
                <a:srgbClr val="FFFFFF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62" name="立方体 261"/>
              <p:cNvSpPr/>
              <p:nvPr/>
            </p:nvSpPr>
            <p:spPr bwMode="auto">
              <a:xfrm>
                <a:off x="9149914" y="1644148"/>
                <a:ext cx="484095" cy="1345921"/>
              </a:xfrm>
              <a:prstGeom prst="cube">
                <a:avLst>
                  <a:gd name="adj" fmla="val 65623"/>
                </a:avLst>
              </a:prstGeom>
              <a:solidFill>
                <a:srgbClr val="FFFFFF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63" name="立方体 262"/>
              <p:cNvSpPr/>
              <p:nvPr/>
            </p:nvSpPr>
            <p:spPr bwMode="auto">
              <a:xfrm>
                <a:off x="8652921" y="1809832"/>
                <a:ext cx="484095" cy="1095724"/>
              </a:xfrm>
              <a:prstGeom prst="cube">
                <a:avLst>
                  <a:gd name="adj" fmla="val 65623"/>
                </a:avLst>
              </a:prstGeom>
              <a:solidFill>
                <a:srgbClr val="FFFFFF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64" name="立方体 263"/>
              <p:cNvSpPr/>
              <p:nvPr/>
            </p:nvSpPr>
            <p:spPr bwMode="auto">
              <a:xfrm>
                <a:off x="8323482" y="1898270"/>
                <a:ext cx="323044" cy="918849"/>
              </a:xfrm>
              <a:prstGeom prst="cube">
                <a:avLst>
                  <a:gd name="adj" fmla="val 65623"/>
                </a:avLst>
              </a:prstGeom>
              <a:solidFill>
                <a:srgbClr val="FFFFFF">
                  <a:lumMod val="20000"/>
                  <a:lumOff val="80000"/>
                </a:srgbClr>
              </a:solidFill>
              <a:ln w="28575">
                <a:noFill/>
                <a:round/>
              </a:ln>
            </p:spPr>
            <p:txBody>
              <a:bodyPr wrap="square" lIns="72000" rIns="72000" rtlCol="0" anchor="ctr">
                <a:no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p:grpSp>
        <p:sp>
          <p:nvSpPr>
            <p:cNvPr id="249" name="文本框 248"/>
            <p:cNvSpPr txBox="1"/>
            <p:nvPr/>
          </p:nvSpPr>
          <p:spPr>
            <a:xfrm>
              <a:off x="7401" y="6640"/>
              <a:ext cx="3205" cy="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文本特征网络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0" name="直接箭头连接符 249"/>
            <p:cNvCxnSpPr/>
            <p:nvPr/>
          </p:nvCxnSpPr>
          <p:spPr>
            <a:xfrm flipV="1">
              <a:off x="6429" y="8012"/>
              <a:ext cx="651" cy="4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251" name="直接箭头连接符 250"/>
            <p:cNvCxnSpPr/>
            <p:nvPr/>
          </p:nvCxnSpPr>
          <p:spPr>
            <a:xfrm>
              <a:off x="12298" y="6386"/>
              <a:ext cx="2" cy="833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tailEnd type="arrow"/>
            </a:ln>
            <a:effectLst/>
          </p:spPr>
        </p:cxnSp>
        <p:cxnSp>
          <p:nvCxnSpPr>
            <p:cNvPr id="252" name="直接箭头连接符 251"/>
            <p:cNvCxnSpPr/>
            <p:nvPr/>
          </p:nvCxnSpPr>
          <p:spPr>
            <a:xfrm flipV="1">
              <a:off x="10911" y="3578"/>
              <a:ext cx="651" cy="4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253" name="右大括号 252"/>
            <p:cNvSpPr/>
            <p:nvPr/>
          </p:nvSpPr>
          <p:spPr>
            <a:xfrm>
              <a:off x="10666" y="3661"/>
              <a:ext cx="288" cy="4270"/>
            </a:xfrm>
            <a:prstGeom prst="rightBrace">
              <a:avLst>
                <a:gd name="adj1" fmla="val 8333"/>
                <a:gd name="adj2" fmla="val 50012"/>
              </a:avLst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4" name="立方体 253"/>
            <p:cNvSpPr/>
            <p:nvPr/>
          </p:nvSpPr>
          <p:spPr bwMode="auto">
            <a:xfrm>
              <a:off x="11201" y="4903"/>
              <a:ext cx="650" cy="1686"/>
            </a:xfrm>
            <a:prstGeom prst="cube">
              <a:avLst>
                <a:gd name="adj" fmla="val 65623"/>
              </a:avLst>
            </a:prstGeom>
            <a:solidFill>
              <a:srgbClr val="CDDDEB"/>
            </a:solidFill>
            <a:ln w="28575">
              <a:noFill/>
              <a:round/>
            </a:ln>
          </p:spPr>
          <p:txBody>
            <a:bodyPr wrap="square" lIns="72000" rIns="7200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立方体 254"/>
            <p:cNvSpPr/>
            <p:nvPr/>
          </p:nvSpPr>
          <p:spPr bwMode="auto">
            <a:xfrm>
              <a:off x="11775" y="5221"/>
              <a:ext cx="434" cy="1151"/>
            </a:xfrm>
            <a:prstGeom prst="cube">
              <a:avLst>
                <a:gd name="adj" fmla="val 65623"/>
              </a:avLst>
            </a:prstGeom>
            <a:solidFill>
              <a:srgbClr val="CDDDEB"/>
            </a:solidFill>
            <a:ln w="28575">
              <a:noFill/>
              <a:round/>
            </a:ln>
          </p:spPr>
          <p:txBody>
            <a:bodyPr wrap="square" lIns="72000" rIns="7200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" name="立方体 255"/>
            <p:cNvSpPr/>
            <p:nvPr/>
          </p:nvSpPr>
          <p:spPr bwMode="auto">
            <a:xfrm>
              <a:off x="12678" y="4903"/>
              <a:ext cx="650" cy="1686"/>
            </a:xfrm>
            <a:prstGeom prst="cube">
              <a:avLst>
                <a:gd name="adj" fmla="val 65623"/>
              </a:avLst>
            </a:prstGeom>
            <a:solidFill>
              <a:srgbClr val="CDDDEB"/>
            </a:solidFill>
            <a:ln w="28575">
              <a:noFill/>
              <a:round/>
            </a:ln>
          </p:spPr>
          <p:txBody>
            <a:bodyPr wrap="square" lIns="72000" rIns="7200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7" name="立方体 256"/>
            <p:cNvSpPr/>
            <p:nvPr/>
          </p:nvSpPr>
          <p:spPr bwMode="auto">
            <a:xfrm>
              <a:off x="12219" y="5221"/>
              <a:ext cx="434" cy="1151"/>
            </a:xfrm>
            <a:prstGeom prst="cube">
              <a:avLst>
                <a:gd name="adj" fmla="val 65623"/>
              </a:avLst>
            </a:prstGeom>
            <a:solidFill>
              <a:srgbClr val="CDDDEB"/>
            </a:solidFill>
            <a:ln w="28575">
              <a:noFill/>
              <a:round/>
            </a:ln>
          </p:spPr>
          <p:txBody>
            <a:bodyPr wrap="square" lIns="72000" rIns="7200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文本框 257"/>
            <p:cNvSpPr txBox="1"/>
            <p:nvPr/>
          </p:nvSpPr>
          <p:spPr>
            <a:xfrm>
              <a:off x="10857" y="4244"/>
              <a:ext cx="3184" cy="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特征融合网络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7" name="文本框 276"/>
          <p:cNvSpPr txBox="1"/>
          <p:nvPr/>
        </p:nvSpPr>
        <p:spPr>
          <a:xfrm>
            <a:off x="567671" y="3379886"/>
            <a:ext cx="2238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B1BDE1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基于深度学习的矿石识别</a:t>
            </a:r>
            <a:endParaRPr lang="zh-CN" altLang="en-US" sz="1400" b="1" dirty="0">
              <a:solidFill>
                <a:srgbClr val="B1BDE1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7" name="矩形 32"/>
          <p:cNvSpPr/>
          <p:nvPr/>
        </p:nvSpPr>
        <p:spPr>
          <a:xfrm>
            <a:off x="4889547" y="1491034"/>
            <a:ext cx="2519289" cy="4565815"/>
          </a:xfrm>
          <a:prstGeom prst="rect">
            <a:avLst/>
          </a:prstGeom>
          <a:noFill/>
          <a:ln w="25400" cap="flat" cmpd="sng" algn="ctr">
            <a:solidFill>
              <a:srgbClr val="4874CB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38" name="图片 25" descr="IMG_256"/>
          <p:cNvPicPr>
            <a:picLocks noChangeAspect="1"/>
          </p:cNvPicPr>
          <p:nvPr/>
        </p:nvPicPr>
        <p:blipFill>
          <a:blip r:embed="rId11"/>
          <a:srcRect l="33787" r="33811"/>
          <a:stretch>
            <a:fillRect/>
          </a:stretch>
        </p:blipFill>
        <p:spPr>
          <a:xfrm>
            <a:off x="5725401" y="2834748"/>
            <a:ext cx="993134" cy="202173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9" name="图片 33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067120" y="1971596"/>
            <a:ext cx="2177979" cy="789329"/>
          </a:xfrm>
          <a:prstGeom prst="rect">
            <a:avLst/>
          </a:prstGeom>
        </p:spPr>
      </p:pic>
      <p:pic>
        <p:nvPicPr>
          <p:cNvPr id="341" name="图片 34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47435" y="5101027"/>
            <a:ext cx="2189496" cy="789330"/>
          </a:xfrm>
          <a:prstGeom prst="rect">
            <a:avLst/>
          </a:prstGeom>
        </p:spPr>
      </p:pic>
      <p:sp>
        <p:nvSpPr>
          <p:cNvPr id="345" name="文本框 344"/>
          <p:cNvSpPr txBox="1"/>
          <p:nvPr/>
        </p:nvSpPr>
        <p:spPr>
          <a:xfrm>
            <a:off x="5231604" y="3242162"/>
            <a:ext cx="36603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批处理输入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348" name="文本框 347"/>
          <p:cNvSpPr txBox="1"/>
          <p:nvPr/>
        </p:nvSpPr>
        <p:spPr>
          <a:xfrm>
            <a:off x="4925315" y="1536277"/>
            <a:ext cx="2311616" cy="342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B1BDE1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批处理轮廓分割算法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B1BDE1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9" name="文本框 348"/>
          <p:cNvSpPr txBox="1"/>
          <p:nvPr/>
        </p:nvSpPr>
        <p:spPr>
          <a:xfrm>
            <a:off x="4360179" y="695295"/>
            <a:ext cx="28039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高通量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下的矿石轮廓分割</a:t>
            </a:r>
            <a:r>
              <a:rPr lang="zh-CN" altLang="en-US" sz="20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提取与定位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7" name="矩形 32"/>
          <p:cNvSpPr/>
          <p:nvPr/>
        </p:nvSpPr>
        <p:spPr>
          <a:xfrm>
            <a:off x="7518470" y="1491034"/>
            <a:ext cx="4491550" cy="4565815"/>
          </a:xfrm>
          <a:prstGeom prst="rect">
            <a:avLst/>
          </a:prstGeom>
          <a:noFill/>
          <a:ln w="25400" cap="flat" cmpd="sng" algn="ctr">
            <a:solidFill>
              <a:srgbClr val="4874CB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7496083" y="695494"/>
            <a:ext cx="48561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基于粒级分组的智能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分选协同</a:t>
            </a:r>
            <a:endParaRPr lang="en-US" altLang="zh-CN" sz="2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" name="内容占位符 1"/>
          <p:cNvSpPr txBox="1"/>
          <p:nvPr/>
        </p:nvSpPr>
        <p:spPr>
          <a:xfrm>
            <a:off x="9645348" y="2651878"/>
            <a:ext cx="2417880" cy="3884770"/>
          </a:xfrm>
          <a:prstGeom prst="rect">
            <a:avLst/>
          </a:prstGeom>
        </p:spPr>
        <p:txBody>
          <a:bodyPr>
            <a:normAutofit/>
          </a:bodyPr>
          <a:lstStyle>
            <a:lvl1pPr marL="228600" lvl="0" indent="-228600" algn="l" defTabSz="91440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kern="1200" baseline="0">
                <a:solidFill>
                  <a:srgbClr val="595959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85800" lvl="1" indent="-228600" algn="l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kern="1200" baseline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2pPr>
            <a:lvl3pPr marL="1143000" lvl="2" indent="-228600" algn="l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kern="1200" baseline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3pPr>
            <a:lvl4pPr marL="1600200" lvl="3" indent="-228600" algn="l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400" kern="1200" baseline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4pPr>
            <a:lvl5pPr marL="2057400" lvl="4" indent="-228600" algn="l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6pPr>
            <a:lvl7pPr marL="2971800" lvl="6" indent="-228600" algn="l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7pPr>
            <a:lvl8pPr marL="3429000" lvl="7" indent="-228600" algn="l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8pPr>
            <a:lvl9pPr marL="3886200" lvl="8" indent="-228600" algn="l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lvl9pPr>
          </a:lstStyle>
          <a:p>
            <a:r>
              <a:rPr lang="zh-CN" altLang="en-US" sz="1200" dirty="0">
                <a:solidFill>
                  <a:schemeClr val="tx1"/>
                </a:solidFill>
              </a:rPr>
              <a:t>矿山物料粒径</a:t>
            </a:r>
            <a:r>
              <a:rPr lang="zh-CN" altLang="en-US" sz="1200">
                <a:solidFill>
                  <a:schemeClr val="tx1"/>
                </a:solidFill>
              </a:rPr>
              <a:t>跨度大，</a:t>
            </a:r>
            <a:r>
              <a:rPr lang="zh-CN" altLang="en-US" sz="1200" dirty="0">
                <a:solidFill>
                  <a:schemeClr val="tx1"/>
                </a:solidFill>
              </a:rPr>
              <a:t>基于</a:t>
            </a:r>
            <a:r>
              <a:rPr lang="en-US" altLang="zh-CN" sz="1200" dirty="0">
                <a:solidFill>
                  <a:schemeClr val="tx1"/>
                </a:solidFill>
              </a:rPr>
              <a:t>XRT</a:t>
            </a:r>
            <a:r>
              <a:rPr lang="zh-CN" altLang="en-US" sz="1200" dirty="0">
                <a:solidFill>
                  <a:schemeClr val="tx1"/>
                </a:solidFill>
              </a:rPr>
              <a:t>的分选技术需要平衡</a:t>
            </a:r>
            <a:r>
              <a:rPr lang="zh-CN" altLang="en-US" sz="1200" dirty="0">
                <a:solidFill>
                  <a:srgbClr val="C00000"/>
                </a:solidFill>
              </a:rPr>
              <a:t>射线源参数、分选算法参数以及喷</a:t>
            </a:r>
            <a:r>
              <a:rPr lang="zh-CN" altLang="en-US" sz="1200">
                <a:solidFill>
                  <a:srgbClr val="C00000"/>
                </a:solidFill>
              </a:rPr>
              <a:t>吹参数</a:t>
            </a:r>
            <a:r>
              <a:rPr lang="zh-CN" altLang="en-US" sz="1200">
                <a:solidFill>
                  <a:schemeClr val="tx1"/>
                </a:solidFill>
              </a:rPr>
              <a:t>。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sz="1200" dirty="0">
                <a:solidFill>
                  <a:schemeClr val="tx1"/>
                </a:solidFill>
              </a:rPr>
              <a:t>射线源管电压（决定出射</a:t>
            </a:r>
            <a:r>
              <a:rPr lang="en-US" altLang="zh-CN" sz="1200" dirty="0">
                <a:solidFill>
                  <a:schemeClr val="tx1"/>
                </a:solidFill>
              </a:rPr>
              <a:t>X</a:t>
            </a:r>
            <a:r>
              <a:rPr lang="zh-CN" altLang="en-US" sz="1200" dirty="0">
                <a:solidFill>
                  <a:schemeClr val="tx1"/>
                </a:solidFill>
              </a:rPr>
              <a:t>射线能量）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sz="1200" dirty="0">
                <a:solidFill>
                  <a:schemeClr val="tx1"/>
                </a:solidFill>
              </a:rPr>
              <a:t>分选算法的阈值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sz="1200" dirty="0">
                <a:solidFill>
                  <a:schemeClr val="tx1"/>
                </a:solidFill>
              </a:rPr>
              <a:t>喷吹区域与喷吹压力</a:t>
            </a:r>
            <a:r>
              <a:rPr lang="zh-CN" altLang="en-US" sz="1200">
                <a:solidFill>
                  <a:schemeClr val="tx1"/>
                </a:solidFill>
              </a:rPr>
              <a:t>的大小</a:t>
            </a:r>
            <a:endParaRPr lang="en-US" altLang="zh-CN" sz="1200" dirty="0">
              <a:solidFill>
                <a:schemeClr val="tx1"/>
              </a:solidFill>
            </a:endParaRPr>
          </a:p>
          <a:p>
            <a:r>
              <a:rPr lang="zh-CN" altLang="en-US" sz="1200" dirty="0">
                <a:solidFill>
                  <a:schemeClr val="tx1"/>
                </a:solidFill>
              </a:rPr>
              <a:t>开发基于粒级分组的智能识别算法与控制策略，实现多级分选协同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grpSp>
        <p:nvGrpSpPr>
          <p:cNvPr id="410" name="组合 409"/>
          <p:cNvGrpSpPr/>
          <p:nvPr/>
        </p:nvGrpSpPr>
        <p:grpSpPr>
          <a:xfrm>
            <a:off x="7659338" y="2671578"/>
            <a:ext cx="2570511" cy="1597311"/>
            <a:chOff x="1043353" y="1544907"/>
            <a:chExt cx="3295273" cy="1471339"/>
          </a:xfrm>
        </p:grpSpPr>
        <p:grpSp>
          <p:nvGrpSpPr>
            <p:cNvPr id="412" name="组合 411"/>
            <p:cNvGrpSpPr/>
            <p:nvPr/>
          </p:nvGrpSpPr>
          <p:grpSpPr>
            <a:xfrm>
              <a:off x="1838131" y="1544907"/>
              <a:ext cx="2500495" cy="1471339"/>
              <a:chOff x="1838131" y="1544907"/>
              <a:chExt cx="2500495" cy="1471339"/>
            </a:xfrm>
          </p:grpSpPr>
          <p:cxnSp>
            <p:nvCxnSpPr>
              <p:cNvPr id="413" name="直接箭头连接符 412"/>
              <p:cNvCxnSpPr/>
              <p:nvPr/>
            </p:nvCxnSpPr>
            <p:spPr>
              <a:xfrm flipV="1">
                <a:off x="1838131" y="1686335"/>
                <a:ext cx="587828" cy="45970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直接箭头连接符 413"/>
              <p:cNvCxnSpPr/>
              <p:nvPr/>
            </p:nvCxnSpPr>
            <p:spPr>
              <a:xfrm>
                <a:off x="1875452" y="2236077"/>
                <a:ext cx="77444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直接箭头连接符 414"/>
              <p:cNvCxnSpPr/>
              <p:nvPr/>
            </p:nvCxnSpPr>
            <p:spPr>
              <a:xfrm>
                <a:off x="1838131" y="2332653"/>
                <a:ext cx="571437" cy="45679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6" name="文本框 415"/>
              <p:cNvSpPr txBox="1"/>
              <p:nvPr/>
            </p:nvSpPr>
            <p:spPr>
              <a:xfrm>
                <a:off x="2547256" y="1544907"/>
                <a:ext cx="1709660" cy="427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50" dirty="0"/>
                  <a:t>喷吹</a:t>
                </a:r>
                <a:r>
                  <a:rPr lang="zh-CN" altLang="en-US" sz="1050"/>
                  <a:t>压力：</a:t>
                </a:r>
                <a:endParaRPr lang="en-US" altLang="zh-CN" sz="1050"/>
              </a:p>
              <a:p>
                <a:r>
                  <a:rPr lang="en-US" altLang="zh-CN" sz="1050"/>
                  <a:t>0.8 </a:t>
                </a:r>
                <a:r>
                  <a:rPr lang="en-US" altLang="zh-CN" sz="1050" dirty="0" err="1"/>
                  <a:t>Mpa</a:t>
                </a:r>
                <a:endParaRPr lang="zh-CN" altLang="en-US" sz="1050" dirty="0"/>
              </a:p>
            </p:txBody>
          </p:sp>
          <p:sp>
            <p:nvSpPr>
              <p:cNvPr id="417" name="文本框 416"/>
              <p:cNvSpPr txBox="1"/>
              <p:nvPr/>
            </p:nvSpPr>
            <p:spPr>
              <a:xfrm>
                <a:off x="2628964" y="2032749"/>
                <a:ext cx="1709662" cy="411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dirty="0"/>
                  <a:t>喷吹</a:t>
                </a:r>
                <a:r>
                  <a:rPr lang="zh-CN" altLang="en-US" sz="1000"/>
                  <a:t>面积：</a:t>
                </a:r>
                <a:endParaRPr lang="en-US" altLang="zh-CN" sz="1000"/>
              </a:p>
              <a:p>
                <a:r>
                  <a:rPr lang="zh-CN" altLang="en-US" sz="1000"/>
                  <a:t> </a:t>
                </a:r>
                <a:r>
                  <a:rPr lang="en-US" altLang="zh-CN" sz="1000" dirty="0"/>
                  <a:t>80%</a:t>
                </a:r>
                <a:endParaRPr lang="zh-CN" altLang="en-US" sz="1000" dirty="0"/>
              </a:p>
            </p:txBody>
          </p:sp>
          <p:sp>
            <p:nvSpPr>
              <p:cNvPr id="418" name="文本框 417"/>
              <p:cNvSpPr txBox="1"/>
              <p:nvPr/>
            </p:nvSpPr>
            <p:spPr>
              <a:xfrm>
                <a:off x="2546096" y="2604779"/>
                <a:ext cx="1409145" cy="411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dirty="0"/>
                  <a:t>识别条件：宽松</a:t>
                </a:r>
                <a:endParaRPr lang="zh-CN" altLang="en-US" sz="1000" dirty="0"/>
              </a:p>
            </p:txBody>
          </p:sp>
        </p:grpSp>
        <p:pic>
          <p:nvPicPr>
            <p:cNvPr id="411" name="图片 41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43353" y="1894363"/>
              <a:ext cx="1097169" cy="749732"/>
            </a:xfrm>
            <a:prstGeom prst="rect">
              <a:avLst/>
            </a:prstGeom>
          </p:spPr>
        </p:pic>
      </p:grpSp>
      <p:grpSp>
        <p:nvGrpSpPr>
          <p:cNvPr id="419" name="组合 418"/>
          <p:cNvGrpSpPr/>
          <p:nvPr/>
        </p:nvGrpSpPr>
        <p:grpSpPr>
          <a:xfrm>
            <a:off x="7669436" y="4278849"/>
            <a:ext cx="2597504" cy="1803643"/>
            <a:chOff x="814753" y="3635606"/>
            <a:chExt cx="3316988" cy="1471340"/>
          </a:xfrm>
        </p:grpSpPr>
        <p:grpSp>
          <p:nvGrpSpPr>
            <p:cNvPr id="421" name="组合 420"/>
            <p:cNvGrpSpPr/>
            <p:nvPr/>
          </p:nvGrpSpPr>
          <p:grpSpPr>
            <a:xfrm>
              <a:off x="1681852" y="3635606"/>
              <a:ext cx="2449889" cy="1471340"/>
              <a:chOff x="1838131" y="1544907"/>
              <a:chExt cx="2449889" cy="1471340"/>
            </a:xfrm>
          </p:grpSpPr>
          <p:cxnSp>
            <p:nvCxnSpPr>
              <p:cNvPr id="422" name="直接箭头连接符 421"/>
              <p:cNvCxnSpPr/>
              <p:nvPr/>
            </p:nvCxnSpPr>
            <p:spPr>
              <a:xfrm flipV="1">
                <a:off x="1838131" y="1686335"/>
                <a:ext cx="587828" cy="45970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直接箭头连接符 422"/>
              <p:cNvCxnSpPr/>
              <p:nvPr/>
            </p:nvCxnSpPr>
            <p:spPr>
              <a:xfrm>
                <a:off x="1875452" y="2236077"/>
                <a:ext cx="77444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直接箭头连接符 423"/>
              <p:cNvCxnSpPr/>
              <p:nvPr/>
            </p:nvCxnSpPr>
            <p:spPr>
              <a:xfrm>
                <a:off x="1838131" y="2332653"/>
                <a:ext cx="571437" cy="45679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5" name="文本框 424"/>
              <p:cNvSpPr txBox="1"/>
              <p:nvPr/>
            </p:nvSpPr>
            <p:spPr>
              <a:xfrm>
                <a:off x="2547254" y="1544907"/>
                <a:ext cx="1539997" cy="411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dirty="0"/>
                  <a:t>喷吹</a:t>
                </a:r>
                <a:r>
                  <a:rPr lang="zh-CN" altLang="en-US" sz="1000"/>
                  <a:t>压力：</a:t>
                </a:r>
                <a:endParaRPr lang="en-US" altLang="zh-CN" sz="1000"/>
              </a:p>
              <a:p>
                <a:r>
                  <a:rPr lang="en-US" altLang="zh-CN" sz="1000"/>
                  <a:t>0.6 </a:t>
                </a:r>
                <a:r>
                  <a:rPr lang="en-US" altLang="zh-CN" sz="1000" dirty="0" err="1"/>
                  <a:t>Mpa</a:t>
                </a:r>
                <a:endParaRPr lang="zh-CN" altLang="en-US" sz="1000" dirty="0"/>
              </a:p>
            </p:txBody>
          </p:sp>
          <p:sp>
            <p:nvSpPr>
              <p:cNvPr id="426" name="文本框 425"/>
              <p:cNvSpPr txBox="1"/>
              <p:nvPr/>
            </p:nvSpPr>
            <p:spPr>
              <a:xfrm>
                <a:off x="2668555" y="2032749"/>
                <a:ext cx="1619465" cy="411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dirty="0"/>
                  <a:t>喷吹</a:t>
                </a:r>
                <a:r>
                  <a:rPr lang="zh-CN" altLang="en-US" sz="1000"/>
                  <a:t>面积：</a:t>
                </a:r>
                <a:endParaRPr lang="en-US" altLang="zh-CN" sz="1000"/>
              </a:p>
              <a:p>
                <a:r>
                  <a:rPr lang="zh-CN" altLang="en-US" sz="1000"/>
                  <a:t> </a:t>
                </a:r>
                <a:r>
                  <a:rPr lang="en-US" altLang="zh-CN" sz="1000" dirty="0"/>
                  <a:t>100%</a:t>
                </a:r>
                <a:endParaRPr lang="zh-CN" altLang="en-US" sz="1000" dirty="0"/>
              </a:p>
            </p:txBody>
          </p:sp>
          <p:sp>
            <p:nvSpPr>
              <p:cNvPr id="427" name="文本框 426"/>
              <p:cNvSpPr txBox="1"/>
              <p:nvPr/>
            </p:nvSpPr>
            <p:spPr>
              <a:xfrm>
                <a:off x="2546096" y="2604780"/>
                <a:ext cx="1503040" cy="411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dirty="0"/>
                  <a:t>识别</a:t>
                </a:r>
                <a:r>
                  <a:rPr lang="zh-CN" altLang="en-US" sz="1000"/>
                  <a:t>条件：</a:t>
                </a:r>
                <a:endParaRPr lang="en-US" altLang="zh-CN" sz="1000"/>
              </a:p>
              <a:p>
                <a:r>
                  <a:rPr lang="zh-CN" altLang="en-US" sz="1000"/>
                  <a:t>严格</a:t>
                </a:r>
                <a:endParaRPr lang="zh-CN" altLang="en-US" sz="1000" dirty="0"/>
              </a:p>
            </p:txBody>
          </p:sp>
        </p:grpSp>
        <p:pic>
          <p:nvPicPr>
            <p:cNvPr id="420" name="图片 419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14753" y="3905770"/>
              <a:ext cx="1097169" cy="741330"/>
            </a:xfrm>
            <a:prstGeom prst="rect">
              <a:avLst/>
            </a:prstGeom>
          </p:spPr>
        </p:pic>
      </p:grpSp>
      <p:pic>
        <p:nvPicPr>
          <p:cNvPr id="428" name="图片 42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9293743" y="1319345"/>
            <a:ext cx="966927" cy="1513613"/>
          </a:xfrm>
          <a:prstGeom prst="rect">
            <a:avLst/>
          </a:prstGeom>
        </p:spPr>
      </p:pic>
      <p:sp>
        <p:nvSpPr>
          <p:cNvPr id="430" name="文本框 429"/>
          <p:cNvSpPr txBox="1"/>
          <p:nvPr/>
        </p:nvSpPr>
        <p:spPr>
          <a:xfrm>
            <a:off x="10926343" y="1749029"/>
            <a:ext cx="854913" cy="738664"/>
          </a:xfrm>
          <a:prstGeom prst="rect">
            <a:avLst/>
          </a:prstGeom>
          <a:solidFill>
            <a:srgbClr val="EE82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粗粒径，难穿透，难喷吹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2" name="文本框 431"/>
          <p:cNvSpPr txBox="1"/>
          <p:nvPr/>
        </p:nvSpPr>
        <p:spPr>
          <a:xfrm>
            <a:off x="7780224" y="1770419"/>
            <a:ext cx="854913" cy="738664"/>
          </a:xfrm>
          <a:prstGeom prst="rect">
            <a:avLst/>
          </a:prstGeom>
          <a:solidFill>
            <a:srgbClr val="EE822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细粒径，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全穿透，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易喷飞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2" name="文本框 451"/>
          <p:cNvSpPr txBox="1"/>
          <p:nvPr/>
        </p:nvSpPr>
        <p:spPr>
          <a:xfrm>
            <a:off x="8623762" y="2251163"/>
            <a:ext cx="428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薄</a:t>
            </a:r>
            <a:endParaRPr lang="zh-CN" altLang="en-US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53" name="文本框 452"/>
          <p:cNvSpPr txBox="1"/>
          <p:nvPr/>
        </p:nvSpPr>
        <p:spPr>
          <a:xfrm>
            <a:off x="10483558" y="2252856"/>
            <a:ext cx="428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ea typeface="宋体" panose="02010600030101010101" pitchFamily="2" charset="-122"/>
              </a:rPr>
              <a:t>厚</a:t>
            </a:r>
            <a:endParaRPr lang="zh-CN" altLang="en-US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cxnSp>
        <p:nvCxnSpPr>
          <p:cNvPr id="455" name="直接箭头连接符 454"/>
          <p:cNvCxnSpPr/>
          <p:nvPr/>
        </p:nvCxnSpPr>
        <p:spPr>
          <a:xfrm>
            <a:off x="8856530" y="2639067"/>
            <a:ext cx="1859796" cy="1693"/>
          </a:xfrm>
          <a:prstGeom prst="straightConnector1">
            <a:avLst/>
          </a:prstGeom>
          <a:noFill/>
          <a:ln w="57150" cap="flat" cmpd="sng" algn="ctr">
            <a:solidFill>
              <a:srgbClr val="44546A"/>
            </a:solidFill>
            <a:prstDash val="solid"/>
            <a:miter lim="800000"/>
            <a:tailEnd type="triangle"/>
          </a:ln>
          <a:effectLst/>
        </p:spPr>
      </p:cxn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82"/>
            <a:ext cx="12192000" cy="63291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0" y="85725"/>
            <a:ext cx="12192000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二、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拟解决的关键技术问题、技术路线及技术目标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>
              <a:lnSpc>
                <a:spcPct val="100000"/>
              </a:lnSpc>
            </a:pPr>
            <a:endParaRPr 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 descr="江西铜业技术研究院有限公司横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24370" y="5871210"/>
            <a:ext cx="4913630" cy="761365"/>
          </a:xfrm>
          <a:prstGeom prst="rect">
            <a:avLst/>
          </a:prstGeom>
        </p:spPr>
      </p:pic>
      <p:sp>
        <p:nvSpPr>
          <p:cNvPr id="10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3433720-DAB8-4212-8ACA-18E895AA4092}" type="slidenum">
              <a:rPr lang="zh-CN" altLang="en-US" smtClean="0"/>
            </a:fld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169262" y="718639"/>
            <a:ext cx="11843962" cy="3112353"/>
            <a:chOff x="11377" y="1080433"/>
            <a:chExt cx="11843962" cy="4536526"/>
          </a:xfrm>
        </p:grpSpPr>
        <p:sp>
          <p:nvSpPr>
            <p:cNvPr id="2" name="Rounded Rectangle 8"/>
            <p:cNvSpPr/>
            <p:nvPr/>
          </p:nvSpPr>
          <p:spPr>
            <a:xfrm>
              <a:off x="158810" y="2033030"/>
              <a:ext cx="3594323" cy="3525903"/>
            </a:xfrm>
            <a:prstGeom prst="roundRect">
              <a:avLst>
                <a:gd name="adj" fmla="val 14654"/>
              </a:avLst>
            </a:prstGeom>
            <a:noFill/>
            <a:ln w="25400">
              <a:solidFill>
                <a:srgbClr val="4F81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5" name="圆角矩形 18"/>
            <p:cNvSpPr/>
            <p:nvPr/>
          </p:nvSpPr>
          <p:spPr>
            <a:xfrm>
              <a:off x="11377" y="1080433"/>
              <a:ext cx="3860308" cy="1562241"/>
            </a:xfrm>
            <a:prstGeom prst="roundRect">
              <a:avLst/>
            </a:prstGeom>
            <a:solidFill>
              <a:srgbClr val="4F81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多源信息</a:t>
              </a:r>
              <a:r>
                <a:rPr lang="zh-CN" altLang="en-US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融合与厚度</a:t>
              </a:r>
              <a:endPara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解耦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的精准识别技术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9746" y="2534407"/>
              <a:ext cx="4636881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67640" indent="-16764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endParaRPr lang="zh-CN" altLang="en-US" sz="1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48423" y="3803484"/>
              <a:ext cx="3317580" cy="12404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l">
                <a:lnSpc>
                  <a:spcPct val="13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消除矿石厚度差异引起的成像畸变</a:t>
              </a:r>
              <a:endPara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l">
                <a:lnSpc>
                  <a:spcPct val="13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实现能量衰减信号与物料厚度的解耦</a:t>
              </a:r>
              <a:endPara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l">
                <a:lnSpc>
                  <a:spcPct val="13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构建高精度矿物识别特征图谱</a:t>
              </a:r>
              <a:endParaRPr lang="zh-CN" altLang="en-US" sz="1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7165" y="2843361"/>
              <a:ext cx="3398838" cy="96012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83787" y="2843361"/>
              <a:ext cx="3440893" cy="932292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80856" y="2908542"/>
              <a:ext cx="3517537" cy="927321"/>
            </a:xfrm>
            <a:prstGeom prst="rect">
              <a:avLst/>
            </a:prstGeom>
          </p:spPr>
        </p:pic>
        <p:sp>
          <p:nvSpPr>
            <p:cNvPr id="13" name="Rounded Rectangle 8"/>
            <p:cNvSpPr/>
            <p:nvPr/>
          </p:nvSpPr>
          <p:spPr>
            <a:xfrm>
              <a:off x="4117487" y="2070469"/>
              <a:ext cx="3594323" cy="3525903"/>
            </a:xfrm>
            <a:prstGeom prst="roundRect">
              <a:avLst>
                <a:gd name="adj" fmla="val 14654"/>
              </a:avLst>
            </a:prstGeom>
            <a:noFill/>
            <a:ln w="25400">
              <a:solidFill>
                <a:srgbClr val="8C3E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4" name="圆角矩形 18"/>
            <p:cNvSpPr/>
            <p:nvPr/>
          </p:nvSpPr>
          <p:spPr>
            <a:xfrm>
              <a:off x="3970054" y="1117872"/>
              <a:ext cx="3860308" cy="1562241"/>
            </a:xfrm>
            <a:prstGeom prst="round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多级协同与工艺参数耦合的全粒级分选策略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068423" y="2571846"/>
              <a:ext cx="4636881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67640" indent="-16764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endParaRPr lang="zh-CN" altLang="en-US" sz="1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068423" y="3775653"/>
              <a:ext cx="3798070" cy="12404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l">
                <a:lnSpc>
                  <a:spcPct val="13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建立“破碎粒度</a:t>
              </a:r>
              <a:r>
                <a:rPr lang="en-US" altLang="zh-CN" sz="14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4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解离度</a:t>
              </a:r>
              <a:r>
                <a:rPr lang="en-US" altLang="zh-CN" sz="14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4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分选效果” 模型</a:t>
              </a:r>
              <a:endPara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l">
                <a:lnSpc>
                  <a:spcPct val="13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开发多级分选协同优化技术</a:t>
              </a:r>
              <a:endPara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algn="l">
                <a:lnSpc>
                  <a:spcPct val="13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突破宽粒级物料一体化高效分选瓶颈</a:t>
              </a:r>
              <a:endPara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ounded Rectangle 8"/>
            <p:cNvSpPr/>
            <p:nvPr/>
          </p:nvSpPr>
          <p:spPr>
            <a:xfrm>
              <a:off x="8142464" y="2091056"/>
              <a:ext cx="3594323" cy="3525903"/>
            </a:xfrm>
            <a:prstGeom prst="roundRect">
              <a:avLst>
                <a:gd name="adj" fmla="val 14654"/>
              </a:avLst>
            </a:prstGeom>
            <a:noFill/>
            <a:ln w="25400">
              <a:solidFill>
                <a:srgbClr val="0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8" name="圆角矩形 18"/>
            <p:cNvSpPr/>
            <p:nvPr/>
          </p:nvSpPr>
          <p:spPr>
            <a:xfrm>
              <a:off x="7995031" y="1138459"/>
              <a:ext cx="3860308" cy="1562241"/>
            </a:xfrm>
            <a:prstGeom prst="roundRect">
              <a:avLst/>
            </a:prstGeom>
            <a:solidFill>
              <a:srgbClr val="008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数据驱动的装备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自适应优化机制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093400" y="3781988"/>
              <a:ext cx="3761939" cy="16242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构建涵盖原料特性与分选指标的全流程数据库</a:t>
              </a:r>
              <a:endPara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实现识别模型与控制策略的持续迭代进化</a:t>
              </a:r>
              <a:endPara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形成数据驱动的闭环优化体系</a:t>
              </a:r>
              <a:endPara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36" name="表格 35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321452" y="4044115"/>
          <a:ext cx="11539583" cy="1738195"/>
        </p:xfrm>
        <a:graphic>
          <a:graphicData uri="http://schemas.openxmlformats.org/drawingml/2006/table">
            <a:tbl>
              <a:tblPr firstRow="1" bandRow="1"/>
              <a:tblGrid>
                <a:gridCol w="11539583"/>
              </a:tblGrid>
              <a:tr h="3083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400" b="1"/>
                        <a:t>技术目标</a:t>
                      </a:r>
                      <a:endParaRPr lang="zh-CN" altLang="en-US" sz="1400" b="1" dirty="0"/>
                    </a:p>
                  </a:txBody>
                  <a:tcPr anchor="ctr">
                    <a:lnL w="12700" cmpd="sng">
                      <a:solidFill>
                        <a:srgbClr val="B1BDE1"/>
                      </a:solidFill>
                    </a:lnL>
                    <a:lnR w="12700" cmpd="sng">
                      <a:solidFill>
                        <a:srgbClr val="B1BDE1"/>
                      </a:solidFill>
                    </a:lnR>
                    <a:lnT w="12700" cmpd="sng">
                      <a:solidFill>
                        <a:srgbClr val="B1BDE1"/>
                      </a:solidFill>
                    </a:lnT>
                    <a:lnB w="12700" cmpd="sng">
                      <a:solidFill>
                        <a:srgbClr val="B1BDE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</a:tr>
              <a:tr h="2803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just"/>
                      <a:r>
                        <a:rPr lang="zh-CN" altLang="en-US" sz="1200"/>
                        <a:t>（</a:t>
                      </a:r>
                      <a:r>
                        <a:rPr lang="en-US" altLang="zh-CN" sz="1200"/>
                        <a:t>1</a:t>
                      </a:r>
                      <a:r>
                        <a:rPr lang="zh-CN" altLang="en-US" sz="1200"/>
                        <a:t>）针对</a:t>
                      </a:r>
                      <a:r>
                        <a:rPr lang="en-US" altLang="zh-CN" sz="1200"/>
                        <a:t>10-120mm</a:t>
                      </a:r>
                      <a:r>
                        <a:rPr lang="zh-CN" altLang="en-US" sz="1200"/>
                        <a:t>粒级的千枚岩型低品位铜矿，建立基于多源融合特征与深度学习的识别模型</a:t>
                      </a:r>
                      <a:r>
                        <a:rPr lang="en-US" altLang="zh-CN" sz="1200"/>
                        <a:t>1</a:t>
                      </a:r>
                      <a:r>
                        <a:rPr lang="zh-CN" altLang="en-US" sz="1200"/>
                        <a:t>套</a:t>
                      </a:r>
                      <a:endParaRPr lang="en-US" altLang="zh-CN" sz="1200" dirty="0"/>
                    </a:p>
                  </a:txBody>
                  <a:tcPr anchor="ctr">
                    <a:lnL w="12700" cmpd="sng">
                      <a:solidFill>
                        <a:srgbClr val="B1BDE1"/>
                      </a:solidFill>
                    </a:lnL>
                    <a:lnR w="12700" cmpd="sng">
                      <a:solidFill>
                        <a:srgbClr val="B1BDE1"/>
                      </a:solidFill>
                    </a:lnR>
                    <a:lnT w="12700" cmpd="sng">
                      <a:solidFill>
                        <a:srgbClr val="B1BDE1"/>
                      </a:solidFill>
                    </a:lnT>
                    <a:lnB w="12700" cmpd="sng">
                      <a:solidFill>
                        <a:srgbClr val="B1BDE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BDE1">
                        <a:tint val="20000"/>
                      </a:srgbClr>
                    </a:solidFill>
                  </a:tcPr>
                </a:tc>
              </a:tr>
              <a:tr h="6728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just"/>
                      <a:r>
                        <a:rPr lang="zh-CN" altLang="en-US" sz="1200">
                          <a:solidFill>
                            <a:srgbClr val="000000"/>
                          </a:solidFill>
                        </a:rPr>
                        <a:t>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</a:rPr>
                        <a:t>）完成一套针对千枚岩型低品位铜矿的智能分选装备的开发与制造，入料粒径可覆盖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10-120mm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</a:rPr>
                        <a:t>，矿石处理能力满足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1200t/d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</a:rPr>
                        <a:t>（两班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16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</a:rPr>
                        <a:t>小时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,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</a:rPr>
                        <a:t>其中设备每天正常运行时间为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12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</a:rPr>
                        <a:t>小时），满足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ms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</a:rPr>
                        <a:t>级的电磁阀快速响应与喷吹，辐射防护符合国家标准，确保日常维护情况下稳定运行时长不低于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</a:rPr>
                        <a:t>60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</a:rPr>
                        <a:t>个班次</a:t>
                      </a:r>
                      <a:endParaRPr lang="zh-CN" altLang="en-US" sz="1200" kern="1200" baseline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B1BDE1"/>
                      </a:solidFill>
                    </a:lnL>
                    <a:lnR w="12700" cmpd="sng">
                      <a:solidFill>
                        <a:srgbClr val="B1BDE1"/>
                      </a:solidFill>
                    </a:lnR>
                    <a:lnT w="12700" cmpd="sng">
                      <a:solidFill>
                        <a:srgbClr val="B1BDE1"/>
                      </a:solidFill>
                    </a:lnT>
                    <a:lnB w="12700" cmpd="sng">
                      <a:solidFill>
                        <a:srgbClr val="B1BDE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476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just"/>
                      <a:r>
                        <a:rPr lang="zh-CN" altLang="en-US" sz="1200"/>
                        <a:t>（</a:t>
                      </a:r>
                      <a:r>
                        <a:rPr lang="en-US" altLang="zh-CN" sz="1200"/>
                        <a:t>3</a:t>
                      </a:r>
                      <a:r>
                        <a:rPr lang="zh-CN" altLang="en-US" sz="1200"/>
                        <a:t>）完成一套工业试验平台搭建并进行大规模现场应用试验，在给矿</a:t>
                      </a:r>
                      <a:r>
                        <a:rPr lang="en-US" altLang="zh-CN" sz="1200"/>
                        <a:t>Cu</a:t>
                      </a:r>
                      <a:r>
                        <a:rPr lang="zh-CN" altLang="en-US" sz="1200"/>
                        <a:t>品位</a:t>
                      </a:r>
                      <a:r>
                        <a:rPr lang="en-US" altLang="zh-CN" sz="1200"/>
                        <a:t>0.08%-0.12%</a:t>
                      </a:r>
                      <a:r>
                        <a:rPr lang="zh-CN" altLang="en-US" sz="1200"/>
                        <a:t>条件下，分选后获得精矿</a:t>
                      </a:r>
                      <a:r>
                        <a:rPr lang="en-US" altLang="zh-CN" sz="1200"/>
                        <a:t>Cu</a:t>
                      </a:r>
                      <a:r>
                        <a:rPr lang="zh-CN" altLang="en-US" sz="1200"/>
                        <a:t>富集比≥</a:t>
                      </a:r>
                      <a:r>
                        <a:rPr lang="en-US" altLang="zh-CN" sz="1200"/>
                        <a:t>2.0</a:t>
                      </a:r>
                      <a:r>
                        <a:rPr lang="zh-CN" altLang="en-US" sz="1200"/>
                        <a:t>，</a:t>
                      </a:r>
                      <a:r>
                        <a:rPr lang="en-US" altLang="zh-CN" sz="1200"/>
                        <a:t>Cu</a:t>
                      </a:r>
                      <a:r>
                        <a:rPr lang="zh-CN" altLang="en-US" sz="1200"/>
                        <a:t>金属回收率≥</a:t>
                      </a:r>
                      <a:r>
                        <a:rPr lang="en-US" altLang="zh-CN" sz="1200"/>
                        <a:t>60%</a:t>
                      </a:r>
                      <a:endParaRPr lang="zh-CN" altLang="en-US" sz="1200" dirty="0"/>
                    </a:p>
                  </a:txBody>
                  <a:tcPr anchor="ctr">
                    <a:lnL w="12700" cmpd="sng">
                      <a:solidFill>
                        <a:srgbClr val="B1BDE1"/>
                      </a:solidFill>
                    </a:lnL>
                    <a:lnR w="12700" cmpd="sng">
                      <a:solidFill>
                        <a:srgbClr val="B1BDE1"/>
                      </a:solidFill>
                    </a:lnR>
                    <a:lnT w="12700" cmpd="sng">
                      <a:solidFill>
                        <a:srgbClr val="B1BDE1"/>
                      </a:solidFill>
                    </a:lnT>
                    <a:lnB w="12700" cmpd="sng">
                      <a:solidFill>
                        <a:srgbClr val="B1BDE1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BDE1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82"/>
            <a:ext cx="12192000" cy="63291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0" y="85725"/>
            <a:ext cx="12192000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预期效益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>
              <a:lnSpc>
                <a:spcPct val="100000"/>
              </a:lnSpc>
            </a:pPr>
            <a:endParaRPr 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 descr="江西铜业技术研究院有限公司横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24370" y="5871210"/>
            <a:ext cx="4913630" cy="761365"/>
          </a:xfrm>
          <a:prstGeom prst="rect">
            <a:avLst/>
          </a:prstGeom>
        </p:spPr>
      </p:pic>
      <p:sp>
        <p:nvSpPr>
          <p:cNvPr id="10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3433720-DAB8-4212-8ACA-18E895AA4092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12095" y="724655"/>
            <a:ext cx="2619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金属综合回收效益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69558" y="718639"/>
            <a:ext cx="3794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矿石综合处理成本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12095" y="1192055"/>
          <a:ext cx="7034575" cy="2910840"/>
        </p:xfrm>
        <a:graphic>
          <a:graphicData uri="http://schemas.openxmlformats.org/drawingml/2006/table">
            <a:tbl>
              <a:tblPr/>
              <a:tblGrid>
                <a:gridCol w="1406915"/>
                <a:gridCol w="1406915"/>
                <a:gridCol w="1406915"/>
                <a:gridCol w="1406915"/>
                <a:gridCol w="1406915"/>
              </a:tblGrid>
              <a:tr h="3429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吨矿效益测算</a:t>
                      </a:r>
                      <a:endParaRPr lang="zh-CN" altLang="en-US" sz="1600" b="0" i="0" u="none" strike="noStrike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54A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42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选出精矿量（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铜品位（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金品位（</a:t>
                      </a: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g/t）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硫品位（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备注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预计分选后矿石平均品位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</a:tr>
              <a:tr h="3429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产生金属量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铜金属量（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金金属量（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kg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硫金属量（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选矿回收率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Cu 80%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，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 50%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，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 65%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</a:tr>
              <a:tr h="342900">
                <a:tc v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0.0012528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0.00017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0.0325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铜金冶炼结算系数分别为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0.87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和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0.85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；标硫中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品位为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35%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产品价格（元）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60000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500000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1142.857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预计单位金属价格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金属收入（元）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75.168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85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37.143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吨矿金属回收合计收入（元）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197.311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7620" marR="7620" marT="7620" marB="0" anchor="ctr"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762121" y="1192055"/>
          <a:ext cx="4117783" cy="2743200"/>
        </p:xfrm>
        <a:graphic>
          <a:graphicData uri="http://schemas.openxmlformats.org/drawingml/2006/table">
            <a:tbl>
              <a:tblPr/>
              <a:tblGrid>
                <a:gridCol w="2228115"/>
                <a:gridCol w="1889668"/>
              </a:tblGrid>
              <a:tr h="3429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CN" altLang="en-US" sz="1600" b="0" u="none" strike="noStrike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吨矿成本分析</a:t>
                      </a:r>
                      <a:endParaRPr lang="zh-CN" altLang="en-US" sz="1600" b="0" u="none" strike="noStrike" kern="1200" baseline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54A1"/>
                    </a:solidFill>
                  </a:tcPr>
                </a:tc>
                <a:tc hMerge="1"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设备折旧加运维成本（元）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200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万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年，折算为</a:t>
                      </a: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16.832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元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破碎与铲装成本（元）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25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元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矿石转运成本（元）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35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元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皮带运输及选矿处理成本（元）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41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元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用电成本（元）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4.7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元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用水及废水处理成本（元）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4.3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元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合计吨矿综合成本（元）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126.832</a:t>
                      </a:r>
                      <a:r>
                        <a:rPr lang="zh-CN" alt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元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12700" cmpd="sng">
                      <a:solidFill>
                        <a:srgbClr val="4874CB"/>
                      </a:solidFill>
                    </a:lnL>
                    <a:lnR w="12700" cmpd="sng">
                      <a:solidFill>
                        <a:srgbClr val="4874CB"/>
                      </a:solidFill>
                    </a:lnR>
                    <a:lnT w="12700" cmpd="sng">
                      <a:solidFill>
                        <a:srgbClr val="4874CB"/>
                      </a:solidFill>
                    </a:lnT>
                    <a:lnB w="12700" cmpd="sng">
                      <a:solidFill>
                        <a:srgbClr val="4874C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4CB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378612" y="4583055"/>
            <a:ext cx="1792764" cy="1455650"/>
            <a:chOff x="204211" y="4373560"/>
            <a:chExt cx="5176940" cy="555461"/>
          </a:xfrm>
        </p:grpSpPr>
        <p:sp>
          <p:nvSpPr>
            <p:cNvPr id="11" name="Shape 8"/>
            <p:cNvSpPr/>
            <p:nvPr/>
          </p:nvSpPr>
          <p:spPr>
            <a:xfrm>
              <a:off x="204211" y="4373560"/>
              <a:ext cx="5176940" cy="555461"/>
            </a:xfrm>
            <a:custGeom>
              <a:avLst/>
              <a:gdLst/>
              <a:ahLst/>
              <a:cxnLst/>
              <a:rect l="l" t="t" r="r" b="b"/>
              <a:pathLst>
                <a:path w="6401484" h="1094271">
                  <a:moveTo>
                    <a:pt x="72955" y="0"/>
                  </a:moveTo>
                  <a:lnTo>
                    <a:pt x="6328529" y="0"/>
                  </a:lnTo>
                  <a:cubicBezTo>
                    <a:pt x="6368821" y="0"/>
                    <a:pt x="6401484" y="32663"/>
                    <a:pt x="6401484" y="72955"/>
                  </a:cubicBezTo>
                  <a:lnTo>
                    <a:pt x="6401484" y="1021316"/>
                  </a:lnTo>
                  <a:cubicBezTo>
                    <a:pt x="6401484" y="1061608"/>
                    <a:pt x="6368821" y="1094271"/>
                    <a:pt x="6328529" y="1094271"/>
                  </a:cubicBezTo>
                  <a:lnTo>
                    <a:pt x="72955" y="1094271"/>
                  </a:lnTo>
                  <a:cubicBezTo>
                    <a:pt x="32663" y="1094271"/>
                    <a:pt x="0" y="1061608"/>
                    <a:pt x="0" y="1021316"/>
                  </a:cubicBezTo>
                  <a:lnTo>
                    <a:pt x="0" y="72955"/>
                  </a:lnTo>
                  <a:cubicBezTo>
                    <a:pt x="0" y="32690"/>
                    <a:pt x="32690" y="0"/>
                    <a:pt x="72955" y="0"/>
                  </a:cubicBezTo>
                  <a:close/>
                </a:path>
              </a:pathLst>
            </a:custGeom>
            <a:solidFill>
              <a:srgbClr val="2E54A1"/>
            </a:solidFill>
            <a:ln>
              <a:solidFill>
                <a:srgbClr val="2E54A1"/>
              </a:solidFill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432745" y="4404657"/>
              <a:ext cx="4852410" cy="493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针对</a:t>
              </a:r>
              <a:r>
                <a:rPr lang="en-US" altLang="zh-CN" sz="140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10-120</a:t>
              </a:r>
              <a:r>
                <a:rPr lang="zh-CN" altLang="en-US" sz="140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粒径平均处理量为</a:t>
              </a:r>
              <a:r>
                <a:rPr lang="en-US" altLang="zh-CN" sz="140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100t/h</a:t>
              </a:r>
              <a:r>
                <a:rPr lang="zh-CN" altLang="en-US" sz="140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，日均运行时间</a:t>
              </a:r>
              <a:r>
                <a:rPr lang="en-US" altLang="zh-CN" sz="140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12h</a:t>
              </a:r>
              <a:r>
                <a:rPr lang="zh-CN" altLang="en-US" sz="140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，精矿产率计为</a:t>
              </a:r>
              <a:r>
                <a:rPr lang="en-US" altLang="zh-CN" sz="140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30%</a:t>
              </a:r>
              <a:r>
                <a:rPr lang="zh-CN" altLang="en-US" sz="140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，年工作日为</a:t>
              </a:r>
              <a:r>
                <a:rPr lang="en-US" altLang="zh-CN" sz="140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330</a:t>
              </a:r>
              <a:r>
                <a:rPr lang="zh-CN" altLang="en-US" sz="140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天，年精矿产量为</a:t>
              </a:r>
              <a:r>
                <a:rPr lang="en-US" altLang="zh-CN" sz="140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11.88</a:t>
              </a:r>
              <a:r>
                <a:rPr lang="zh-CN" altLang="en-US" sz="140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万吨</a:t>
              </a:r>
              <a:endParaRPr lang="zh-CN" altLang="zh-CN" sz="140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312095" y="4140936"/>
            <a:ext cx="2619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年综合经济效益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287635" y="4580113"/>
            <a:ext cx="4753411" cy="1455649"/>
            <a:chOff x="2164881" y="4812219"/>
            <a:chExt cx="4753411" cy="998976"/>
          </a:xfrm>
        </p:grpSpPr>
        <p:sp>
          <p:nvSpPr>
            <p:cNvPr id="15" name="矩形: 圆角 14"/>
            <p:cNvSpPr/>
            <p:nvPr/>
          </p:nvSpPr>
          <p:spPr>
            <a:xfrm>
              <a:off x="2164881" y="4812219"/>
              <a:ext cx="4720478" cy="998976"/>
            </a:xfrm>
            <a:prstGeom prst="roundRect">
              <a:avLst/>
            </a:prstGeom>
            <a:solidFill>
              <a:srgbClr val="E7EDF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197814" y="5021595"/>
              <a:ext cx="4720478" cy="5702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吨矿效益为 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197.311 – 126.832 = 70.479 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元</a:t>
              </a:r>
              <a:endPara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年综合经济效益 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70.479 × 11.88  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≈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 837 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万元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7669558" y="4016390"/>
            <a:ext cx="2619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社会效益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9134209" y="4414998"/>
            <a:ext cx="1332826" cy="1563017"/>
            <a:chOff x="7706456" y="4491343"/>
            <a:chExt cx="1332826" cy="1563017"/>
          </a:xfrm>
        </p:grpSpPr>
        <p:sp>
          <p:nvSpPr>
            <p:cNvPr id="19" name="Shape 29"/>
            <p:cNvSpPr/>
            <p:nvPr/>
          </p:nvSpPr>
          <p:spPr>
            <a:xfrm>
              <a:off x="7725402" y="4883263"/>
              <a:ext cx="1300065" cy="1171097"/>
            </a:xfrm>
            <a:custGeom>
              <a:avLst/>
              <a:gdLst/>
              <a:ahLst/>
              <a:cxnLst/>
              <a:rect l="l" t="t" r="r" b="b"/>
              <a:pathLst>
                <a:path w="4510475" h="4211929">
                  <a:moveTo>
                    <a:pt x="96832" y="0"/>
                  </a:moveTo>
                  <a:lnTo>
                    <a:pt x="4413643" y="0"/>
                  </a:lnTo>
                  <a:cubicBezTo>
                    <a:pt x="4467122" y="0"/>
                    <a:pt x="4510475" y="43353"/>
                    <a:pt x="4510475" y="96832"/>
                  </a:cubicBezTo>
                  <a:lnTo>
                    <a:pt x="4510475" y="4115096"/>
                  </a:lnTo>
                  <a:cubicBezTo>
                    <a:pt x="4510475" y="4168575"/>
                    <a:pt x="4467122" y="4211929"/>
                    <a:pt x="4413643" y="4211929"/>
                  </a:cubicBezTo>
                  <a:lnTo>
                    <a:pt x="96832" y="4211929"/>
                  </a:lnTo>
                  <a:cubicBezTo>
                    <a:pt x="43353" y="4211929"/>
                    <a:pt x="0" y="4168575"/>
                    <a:pt x="0" y="4115096"/>
                  </a:cubicBezTo>
                  <a:lnTo>
                    <a:pt x="0" y="96832"/>
                  </a:lnTo>
                  <a:cubicBezTo>
                    <a:pt x="0" y="43389"/>
                    <a:pt x="43389" y="0"/>
                    <a:pt x="96832" y="0"/>
                  </a:cubicBezTo>
                  <a:close/>
                </a:path>
              </a:pathLst>
            </a:custGeom>
            <a:solidFill>
              <a:srgbClr val="5F85A6">
                <a:alpha val="14902"/>
              </a:srgbClr>
            </a:solidFill>
            <a:ln w="6350">
              <a:solidFill>
                <a:srgbClr val="4874CB">
                  <a:lumMod val="20000"/>
                  <a:lumOff val="80000"/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7730553" y="4491343"/>
              <a:ext cx="1308729" cy="403689"/>
            </a:xfrm>
            <a:prstGeom prst="rect">
              <a:avLst/>
            </a:prstGeom>
            <a:solidFill>
              <a:srgbClr val="4874CB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可持续发展</a:t>
              </a:r>
              <a:endPara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Text 6"/>
            <p:cNvSpPr/>
            <p:nvPr/>
          </p:nvSpPr>
          <p:spPr>
            <a:xfrm>
              <a:off x="7706456" y="5058104"/>
              <a:ext cx="1300065" cy="876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ts val="165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降低对高品位矿石的依赖，延缓资源枯竭，筑牢矿山可持续发展根基。</a:t>
              </a: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0612736" y="4414998"/>
            <a:ext cx="1310286" cy="1582580"/>
            <a:chOff x="9272847" y="4491343"/>
            <a:chExt cx="1310286" cy="1582580"/>
          </a:xfrm>
        </p:grpSpPr>
        <p:sp>
          <p:nvSpPr>
            <p:cNvPr id="23" name="Shape 29"/>
            <p:cNvSpPr/>
            <p:nvPr/>
          </p:nvSpPr>
          <p:spPr>
            <a:xfrm>
              <a:off x="9272847" y="4902826"/>
              <a:ext cx="1303458" cy="1171097"/>
            </a:xfrm>
            <a:custGeom>
              <a:avLst/>
              <a:gdLst/>
              <a:ahLst/>
              <a:cxnLst/>
              <a:rect l="l" t="t" r="r" b="b"/>
              <a:pathLst>
                <a:path w="4510475" h="4211929">
                  <a:moveTo>
                    <a:pt x="96832" y="0"/>
                  </a:moveTo>
                  <a:lnTo>
                    <a:pt x="4413643" y="0"/>
                  </a:lnTo>
                  <a:cubicBezTo>
                    <a:pt x="4467122" y="0"/>
                    <a:pt x="4510475" y="43353"/>
                    <a:pt x="4510475" y="96832"/>
                  </a:cubicBezTo>
                  <a:lnTo>
                    <a:pt x="4510475" y="4115096"/>
                  </a:lnTo>
                  <a:cubicBezTo>
                    <a:pt x="4510475" y="4168575"/>
                    <a:pt x="4467122" y="4211929"/>
                    <a:pt x="4413643" y="4211929"/>
                  </a:cubicBezTo>
                  <a:lnTo>
                    <a:pt x="96832" y="4211929"/>
                  </a:lnTo>
                  <a:cubicBezTo>
                    <a:pt x="43353" y="4211929"/>
                    <a:pt x="0" y="4168575"/>
                    <a:pt x="0" y="4115096"/>
                  </a:cubicBezTo>
                  <a:lnTo>
                    <a:pt x="0" y="96832"/>
                  </a:lnTo>
                  <a:cubicBezTo>
                    <a:pt x="0" y="43389"/>
                    <a:pt x="43389" y="0"/>
                    <a:pt x="96832" y="0"/>
                  </a:cubicBezTo>
                  <a:close/>
                </a:path>
              </a:pathLst>
            </a:custGeom>
            <a:solidFill>
              <a:srgbClr val="5F85A6">
                <a:alpha val="14902"/>
              </a:srgbClr>
            </a:solidFill>
            <a:ln w="6350">
              <a:solidFill>
                <a:srgbClr val="4874CB">
                  <a:lumMod val="20000"/>
                  <a:lumOff val="80000"/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9274404" y="4491343"/>
              <a:ext cx="1308729" cy="403689"/>
            </a:xfrm>
            <a:prstGeom prst="rect">
              <a:avLst/>
            </a:prstGeom>
            <a:solidFill>
              <a:srgbClr val="4874CB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生态友好</a:t>
              </a:r>
              <a:endPara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Text 14"/>
            <p:cNvSpPr/>
            <p:nvPr/>
          </p:nvSpPr>
          <p:spPr>
            <a:xfrm>
              <a:off x="9331813" y="5249419"/>
              <a:ext cx="1199184" cy="457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ts val="165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减少固体废弃物排放，降低土地占用与生态污染风险，推动资源利用与环境保护协同共进。</a:t>
              </a: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672971" y="4420395"/>
            <a:ext cx="1316480" cy="1562128"/>
            <a:chOff x="6186702" y="4483512"/>
            <a:chExt cx="1316480" cy="1562128"/>
          </a:xfrm>
        </p:grpSpPr>
        <p:sp>
          <p:nvSpPr>
            <p:cNvPr id="27" name="矩形 26"/>
            <p:cNvSpPr/>
            <p:nvPr/>
          </p:nvSpPr>
          <p:spPr>
            <a:xfrm>
              <a:off x="6186702" y="4483512"/>
              <a:ext cx="1308729" cy="403689"/>
            </a:xfrm>
            <a:prstGeom prst="rect">
              <a:avLst/>
            </a:prstGeom>
            <a:solidFill>
              <a:srgbClr val="4874CB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资源充分利用</a:t>
              </a:r>
              <a:endPara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Shape 29"/>
            <p:cNvSpPr/>
            <p:nvPr/>
          </p:nvSpPr>
          <p:spPr>
            <a:xfrm>
              <a:off x="6189337" y="4881804"/>
              <a:ext cx="1303458" cy="1163836"/>
            </a:xfrm>
            <a:custGeom>
              <a:avLst/>
              <a:gdLst/>
              <a:ahLst/>
              <a:cxnLst/>
              <a:rect l="l" t="t" r="r" b="b"/>
              <a:pathLst>
                <a:path w="4510475" h="4211929">
                  <a:moveTo>
                    <a:pt x="96832" y="0"/>
                  </a:moveTo>
                  <a:lnTo>
                    <a:pt x="4413643" y="0"/>
                  </a:lnTo>
                  <a:cubicBezTo>
                    <a:pt x="4467122" y="0"/>
                    <a:pt x="4510475" y="43353"/>
                    <a:pt x="4510475" y="96832"/>
                  </a:cubicBezTo>
                  <a:lnTo>
                    <a:pt x="4510475" y="4115096"/>
                  </a:lnTo>
                  <a:cubicBezTo>
                    <a:pt x="4510475" y="4168575"/>
                    <a:pt x="4467122" y="4211929"/>
                    <a:pt x="4413643" y="4211929"/>
                  </a:cubicBezTo>
                  <a:lnTo>
                    <a:pt x="96832" y="4211929"/>
                  </a:lnTo>
                  <a:cubicBezTo>
                    <a:pt x="43353" y="4211929"/>
                    <a:pt x="0" y="4168575"/>
                    <a:pt x="0" y="4115096"/>
                  </a:cubicBezTo>
                  <a:lnTo>
                    <a:pt x="0" y="96832"/>
                  </a:lnTo>
                  <a:cubicBezTo>
                    <a:pt x="0" y="43389"/>
                    <a:pt x="43389" y="0"/>
                    <a:pt x="96832" y="0"/>
                  </a:cubicBezTo>
                  <a:close/>
                </a:path>
              </a:pathLst>
            </a:custGeom>
            <a:solidFill>
              <a:srgbClr val="5F85A6">
                <a:alpha val="14902"/>
              </a:srgbClr>
            </a:solidFill>
            <a:ln w="6350">
              <a:solidFill>
                <a:srgbClr val="4874CB">
                  <a:lumMod val="20000"/>
                  <a:lumOff val="80000"/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29" name="Text 10"/>
            <p:cNvSpPr/>
            <p:nvPr/>
          </p:nvSpPr>
          <p:spPr>
            <a:xfrm>
              <a:off x="6199724" y="5160562"/>
              <a:ext cx="1303458" cy="66675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ts val="165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实现铜、硫、金等有价元素高效富集，将废石转化为矿石资源，显著提升矿产资源综合利用率。</a:t>
              </a: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82"/>
            <a:ext cx="12192000" cy="63291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0" y="85725"/>
            <a:ext cx="12192000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四、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任务分工与经费预算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>
              <a:lnSpc>
                <a:spcPct val="100000"/>
              </a:lnSpc>
            </a:pPr>
            <a:endParaRPr 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 descr="江西铜业技术研究院有限公司横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24370" y="5871210"/>
            <a:ext cx="4913630" cy="761365"/>
          </a:xfrm>
          <a:prstGeom prst="rect">
            <a:avLst/>
          </a:prstGeom>
        </p:spPr>
      </p:pic>
      <p:sp>
        <p:nvSpPr>
          <p:cNvPr id="10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3433720-DAB8-4212-8ACA-18E895AA4092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79672" y="1117872"/>
          <a:ext cx="10574128" cy="4364262"/>
        </p:xfrm>
        <a:graphic>
          <a:graphicData uri="http://schemas.openxmlformats.org/drawingml/2006/table">
            <a:tbl>
              <a:tblPr firstRow="1" bandRow="1"/>
              <a:tblGrid>
                <a:gridCol w="2643532"/>
                <a:gridCol w="2643532"/>
                <a:gridCol w="2643532"/>
                <a:gridCol w="2643532"/>
              </a:tblGrid>
              <a:tr h="5929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600" b="1"/>
                        <a:t>参与单位</a:t>
                      </a:r>
                      <a:endParaRPr lang="zh-CN" altLang="en-US" sz="1600" b="1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600" b="1"/>
                        <a:t>南昌研发中心</a:t>
                      </a:r>
                      <a:endParaRPr lang="zh-CN" altLang="en-US" sz="1600" b="1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600" b="1"/>
                        <a:t>智信公司</a:t>
                      </a:r>
                      <a:endParaRPr lang="zh-CN" altLang="en-US" sz="1600" b="1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600" b="1"/>
                        <a:t>银山矿业</a:t>
                      </a:r>
                      <a:endParaRPr lang="zh-CN" altLang="en-US" sz="1600" b="1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</a:tr>
              <a:tr h="18302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任务分工</a:t>
                      </a:r>
                      <a:endParaRPr lang="en-US" altLang="zh-CN" sz="16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BDE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负责设计智能分选设备；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开展基于</a:t>
                      </a:r>
                      <a:r>
                        <a:rPr lang="en-US" altLang="zh-CN" sz="1600"/>
                        <a:t>XRT</a:t>
                      </a:r>
                      <a:r>
                        <a:rPr lang="zh-CN" altLang="en-US" sz="1600"/>
                        <a:t>的矿石样品分析、成像识别及建立配套算法；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制定试验方案，开展小批量验证试验、现场半工业试验、现场稳定运行试验；</a:t>
                      </a:r>
                      <a:endParaRPr lang="en-US" altLang="zh-CN" sz="1600"/>
                    </a:p>
                    <a:p>
                      <a:pPr algn="ctr"/>
                      <a:r>
                        <a:rPr lang="zh-CN" altLang="en-US" sz="1600"/>
                        <a:t>编写试验报告</a:t>
                      </a:r>
                      <a:endParaRPr lang="en-US" altLang="zh-CN" sz="16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BDE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zh-CN" sz="16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参与智能分选设备的设计，负责设备的加工制造、现场安装与长期维护；</a:t>
                      </a:r>
                      <a:endParaRPr lang="en-US" altLang="zh-CN" sz="1600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zh-CN" sz="16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搭建现场工业试验平台；</a:t>
                      </a:r>
                      <a:endParaRPr lang="en-US" altLang="zh-CN" sz="1600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zh-CN" sz="16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配合开展现场试验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BDE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zh-CN" sz="16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参与试验方案制定，根据试验计划安排试验供矿，平整试验场地；</a:t>
                      </a:r>
                      <a:endParaRPr lang="en-US" altLang="zh-CN" sz="1600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zh-CN" sz="16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为试验提供合格入选粒径的原矿；</a:t>
                      </a:r>
                      <a:endParaRPr lang="en-US" altLang="zh-CN" sz="1600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zh-CN" sz="16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协助矿石的转运；</a:t>
                      </a:r>
                      <a:endParaRPr lang="en-US" altLang="zh-CN" sz="1600" kern="1200" baseline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zh-CN" sz="16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参与主要试验及</a:t>
                      </a:r>
                      <a:r>
                        <a:rPr lang="zh-CN" altLang="en-US" sz="16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协助取样化验</a:t>
                      </a:r>
                      <a:r>
                        <a:rPr lang="zh-CN" altLang="zh-CN" sz="160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，审核试验报告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BDE1">
                        <a:tint val="20000"/>
                      </a:srgbClr>
                    </a:solidFill>
                  </a:tcPr>
                </a:tc>
              </a:tr>
              <a:tr h="8645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600">
                          <a:solidFill>
                            <a:srgbClr val="000000"/>
                          </a:solidFill>
                        </a:rPr>
                        <a:t>经费预算</a:t>
                      </a:r>
                      <a:endParaRPr lang="zh-CN" altLang="en-US" sz="1600" kern="1200" baseline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6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418.62</a:t>
                      </a:r>
                      <a:r>
                        <a:rPr lang="zh-CN" altLang="en-US" sz="16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万元</a:t>
                      </a:r>
                      <a:endParaRPr lang="en-US" altLang="zh-CN" sz="16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6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417.92</a:t>
                      </a:r>
                      <a:r>
                        <a:rPr lang="zh-CN" altLang="en-US" sz="16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万元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6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75.422</a:t>
                      </a:r>
                      <a:r>
                        <a:rPr lang="zh-CN" altLang="en-US" sz="16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万元</a:t>
                      </a:r>
                      <a:endParaRPr lang="zh-CN" altLang="en-US" sz="16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9"/>
                    </a:solidFill>
                  </a:tcPr>
                </a:tc>
              </a:tr>
              <a:tr h="8645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600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总计</a:t>
                      </a:r>
                      <a:endParaRPr lang="zh-CN" altLang="en-US" sz="1600" kern="1200" baseline="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9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6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911.962</a:t>
                      </a:r>
                      <a:r>
                        <a:rPr lang="zh-CN" altLang="en-US" sz="16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万元</a:t>
                      </a:r>
                      <a:endParaRPr lang="en-US" altLang="zh-CN" sz="16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9"/>
                    </a:solidFill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9"/>
                    </a:solidFill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9"/>
                    </a:solidFill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3"/>
            <p:custDataLst>
              <p:tags r:id="rId1"/>
            </p:custDataLst>
          </p:nvPr>
        </p:nvSpPr>
        <p:spPr>
          <a:xfrm>
            <a:off x="6604000" y="2844483"/>
            <a:ext cx="4825365" cy="1351915"/>
          </a:xfrm>
        </p:spPr>
        <p:txBody>
          <a:bodyPr wrap="square">
            <a:normAutofit/>
          </a:bodyPr>
          <a:lstStyle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汇报完毕！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图片 3" descr="江西铜业技术研究院有限公司横版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24370" y="5871210"/>
            <a:ext cx="4913630" cy="761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5000">
        <p14:prism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50000" y="15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sin(rand(10))/1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sin(rand(10))/1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p="http://schemas.openxmlformats.org/presentationml/2006/main">
  <p:tag name="PA" val="v5.2.8"/>
</p:tagLst>
</file>

<file path=ppt/tags/tag2.xml><?xml version="1.0" encoding="utf-8"?>
<p:tagLst xmlns:p="http://schemas.openxmlformats.org/presentationml/2006/main">
  <p:tag name="PA" val="v5.2.8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PA" val="v5.2.8"/>
</p:tagLst>
</file>

<file path=ppt/tags/tag5.xml><?xml version="1.0" encoding="utf-8"?>
<p:tagLst xmlns:p="http://schemas.openxmlformats.org/presentationml/2006/main">
  <p:tag name="PA" val="v5.2.8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PA" val="v5.2.8"/>
</p:tagLst>
</file>

<file path=ppt/tags/tag8.xml><?xml version="1.0" encoding="utf-8"?>
<p:tagLst xmlns:p="http://schemas.openxmlformats.org/presentationml/2006/main">
  <p:tag name="PA" val="v5.2.8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PA" val="v5.2.8"/>
</p:tagLst>
</file>

<file path=ppt/tags/tag11.xml><?xml version="1.0" encoding="utf-8"?>
<p:tagLst xmlns:p="http://schemas.openxmlformats.org/presentationml/2006/main">
  <p:tag name="PA" val="v5.2.8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PA" val="v5.2.8"/>
</p:tagLst>
</file>

<file path=ppt/tags/tag14.xml><?xml version="1.0" encoding="utf-8"?>
<p:tagLst xmlns:p="http://schemas.openxmlformats.org/presentationml/2006/main">
  <p:tag name="PA" val="v5.2.8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PA" val="v5.2.8"/>
</p:tagLst>
</file>

<file path=ppt/tags/tag17.xml><?xml version="1.0" encoding="utf-8"?>
<p:tagLst xmlns:p="http://schemas.openxmlformats.org/presentationml/2006/main">
  <p:tag name="PA" val="v5.2.8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PA" val="v5.2.8"/>
</p:tagLst>
</file>

<file path=ppt/tags/tag20.xml><?xml version="1.0" encoding="utf-8"?>
<p:tagLst xmlns:p="http://schemas.openxmlformats.org/presentationml/2006/main">
  <p:tag name="PA" val="v5.2.8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SPECIAL_SOURCE" val="bdnull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SPECIAL_SOURCE" val="bdnull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SPECIAL_SOURCE" val="bdnull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SPECIAL_SOURCE" val="bdnull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SPECIAL_SOURCE" val="bdnull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DIAGRAM_VIRTUALLY_FRAME" val="{&quot;height&quot;:118.85,&quot;left&quot;:48.1,&quot;top&quot;:328.25,&quot;width&quot;:409.45}"/>
</p:tagLst>
</file>

<file path=ppt/tags/tag41.xml><?xml version="1.0" encoding="utf-8"?>
<p:tagLst xmlns:p="http://schemas.openxmlformats.org/presentationml/2006/main">
  <p:tag name="KSO_WM_DIAGRAM_VIRTUALLY_FRAME" val="{&quot;height&quot;:118.85,&quot;left&quot;:48.1,&quot;top&quot;:328.25,&quot;width&quot;:409.45}"/>
</p:tagLst>
</file>

<file path=ppt/tags/tag42.xml><?xml version="1.0" encoding="utf-8"?>
<p:tagLst xmlns:p="http://schemas.openxmlformats.org/presentationml/2006/main">
  <p:tag name="KSO_WM_DIAGRAM_VIRTUALLY_FRAME" val="{&quot;height&quot;:118.85,&quot;left&quot;:48.1,&quot;top&quot;:328.25,&quot;width&quot;:409.45}"/>
</p:tagLst>
</file>

<file path=ppt/tags/tag43.xml><?xml version="1.0" encoding="utf-8"?>
<p:tagLst xmlns:p="http://schemas.openxmlformats.org/presentationml/2006/main">
  <p:tag name="KSO_WM_DIAGRAM_VIRTUALLY_FRAME" val="{&quot;height&quot;:118.85,&quot;left&quot;:48.1,&quot;top&quot;:328.25,&quot;width&quot;:409.45}"/>
</p:tagLst>
</file>

<file path=ppt/tags/tag44.xml><?xml version="1.0" encoding="utf-8"?>
<p:tagLst xmlns:p="http://schemas.openxmlformats.org/presentationml/2006/main">
  <p:tag name="KSO_WM_DIAGRAM_VIRTUALLY_FRAME" val="{&quot;height&quot;:118.85,&quot;left&quot;:48.1,&quot;top&quot;:328.25,&quot;width&quot;:409.45}"/>
</p:tagLst>
</file>

<file path=ppt/tags/tag45.xml><?xml version="1.0" encoding="utf-8"?>
<p:tagLst xmlns:p="http://schemas.openxmlformats.org/presentationml/2006/main">
  <p:tag name="KSO_WM_DIAGRAM_VIRTUALLY_FRAME" val="{&quot;height&quot;:199.3,&quot;left&quot;:22,&quot;top&quot;:144.3,&quot;width&quot;:158.15}"/>
</p:tagLst>
</file>

<file path=ppt/tags/tag46.xml><?xml version="1.0" encoding="utf-8"?>
<p:tagLst xmlns:p="http://schemas.openxmlformats.org/presentationml/2006/main">
  <p:tag name="KSO_WM_SPECIAL_SOURCE" val="bdnull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TABLE_ENDDRAG_ORIGIN_RECT" val="864*223"/>
  <p:tag name="TABLE_ENDDRAG_RECT" val="38*64*864*223"/>
</p:tagLst>
</file>

<file path=ppt/tags/tag49.xml><?xml version="1.0" encoding="utf-8"?>
<p:tagLst xmlns:p="http://schemas.openxmlformats.org/presentationml/2006/main">
  <p:tag name="KSO_WM_SPECIAL_SOURCE" val="bdnull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SPECIAL_SOURCE" val="bdnull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TABLE_ENDDRAG_ORIGIN_RECT" val="864*223"/>
  <p:tag name="TABLE_ENDDRAG_RECT" val="38*64*864*223"/>
</p:tagLst>
</file>

<file path=ppt/tags/tag54.xml><?xml version="1.0" encoding="utf-8"?>
<p:tagLst xmlns:p="http://schemas.openxmlformats.org/presentationml/2006/main">
  <p:tag name="KSO_WM_SPECIAL_SOURCE" val="bdnull"/>
</p:tagLst>
</file>

<file path=ppt/tags/tag55.xml><?xml version="1.0" encoding="utf-8"?>
<p:tagLst xmlns:p="http://schemas.openxmlformats.org/presentationml/2006/main">
  <p:tag name="KSO_WM_UNIT_ISCONTENTSTITLE" val="0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609_40*a*1"/>
  <p:tag name="KSO_WM_TEMPLATE_CATEGORY" val="custom"/>
  <p:tag name="KSO_WM_TEMPLATE_INDEX" val="20204609"/>
  <p:tag name="KSO_WM_UNIT_LAYERLEVEL" val="1"/>
  <p:tag name="KSO_WM_TAG_VERSION" val="1.0"/>
  <p:tag name="KSO_WM_BEAUTIFY_FLAG" val="#wm#"/>
  <p:tag name="KSO_WM_UNIT_PRESET_TEXT" val="谢谢观看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SLIDE_ID" val="custom20204609_40"/>
  <p:tag name="KSO_WM_TEMPLATE_SUBCATEGORY" val="0"/>
  <p:tag name="KSO_WM_TEMPLATE_MASTER_TYPE" val="1"/>
  <p:tag name="KSO_WM_TEMPLATE_COLOR_TYPE" val="1"/>
  <p:tag name="KSO_WM_SLIDE_TYPE" val="endPage"/>
  <p:tag name="KSO_WM_SLIDE_SUBTYPE" val="pureTxt"/>
  <p:tag name="KSO_WM_SLIDE_ITEM_CNT" val="0"/>
  <p:tag name="KSO_WM_SLIDE_INDEX" val="40"/>
  <p:tag name="KSO_WM_TAG_VERSION" val="1.0"/>
  <p:tag name="KSO_WM_BEAUTIFY_FLAG" val="#wm#"/>
  <p:tag name="KSO_WM_TEMPLATE_CATEGORY" val="custom"/>
  <p:tag name="KSO_WM_TEMPLATE_INDEX" val="20204609"/>
  <p:tag name="KSO_WM_SLIDE_LAYOUT" val="a_b"/>
  <p:tag name="KSO_WM_SLIDE_LAYOUT_CNT" val="1_1"/>
  <p:tag name="KSO_WM_SLIDE_ANIMATION_ID" val="3127887"/>
  <p:tag name="KSO_WM_SLIDE_ANIMATION_TYPE" val="0_8_2"/>
  <p:tag name="KSO_WM_SPECIAL_SOURCE" val="bdnull"/>
</p:tagLst>
</file>

<file path=ppt/tags/tag58.xml><?xml version="1.0" encoding="utf-8"?>
<p:tagLst xmlns:p="http://schemas.openxmlformats.org/presentationml/2006/main">
  <p:tag name="KSO_WPP_MARK_KEY" val="e06c5a99-2728-449d-8be7-3fd9f08a7b34"/>
  <p:tag name="COMMONDATA" val="eyJoZGlkIjoiMDIxZmNmNDkwYmI5MjIxNzJjZGEyMWYyYzY0NDI1YWEifQ=="/>
  <p:tag name="RESOURCE_RECORD_KEY" val="{&quot;13&quot;:[20482077]}"/>
</p:tagLst>
</file>

<file path=ppt/theme/theme1.xml><?xml version="1.0" encoding="utf-8"?>
<a:theme xmlns:a="http://schemas.openxmlformats.org/drawingml/2006/main" name="Thanatos">
  <a:themeElements>
    <a:clrScheme name="涂豆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0000"/>
      </a:accent1>
      <a:accent2>
        <a:srgbClr val="FFEDC2"/>
      </a:accent2>
      <a:accent3>
        <a:srgbClr val="A5A5A5"/>
      </a:accent3>
      <a:accent4>
        <a:srgbClr val="C00000"/>
      </a:accent4>
      <a:accent5>
        <a:srgbClr val="7F7F7F"/>
      </a:accent5>
      <a:accent6>
        <a:srgbClr val="FFEDC2"/>
      </a:accent6>
      <a:hlink>
        <a:srgbClr val="C00000"/>
      </a:hlink>
      <a:folHlink>
        <a:srgbClr val="C00000"/>
      </a:folHlink>
    </a:clrScheme>
    <a:fontScheme name="涂豆思">
      <a:majorFont>
        <a:latin typeface="思源黑体 CN Heavy"/>
        <a:ea typeface="思源黑体 CN Heavy"/>
        <a:cs typeface=""/>
      </a:majorFont>
      <a:minorFont>
        <a:latin typeface="思源黑体 CN Normal"/>
        <a:ea typeface="思源黑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4279</Words>
  <Application>WPS 演示</Application>
  <PresentationFormat>宽屏</PresentationFormat>
  <Paragraphs>789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1" baseType="lpstr">
      <vt:lpstr>Arial</vt:lpstr>
      <vt:lpstr>宋体</vt:lpstr>
      <vt:lpstr>Wingdings</vt:lpstr>
      <vt:lpstr>字魂105号-简雅黑</vt:lpstr>
      <vt:lpstr>黑体</vt:lpstr>
      <vt:lpstr>方正黑体简体</vt:lpstr>
      <vt:lpstr>微软雅黑</vt:lpstr>
      <vt:lpstr>汉仪旗黑-85S</vt:lpstr>
      <vt:lpstr>微软雅黑</vt:lpstr>
      <vt:lpstr>HarmonyOS Sans SC</vt:lpstr>
      <vt:lpstr>HarmonyOS Sans SC Bold</vt:lpstr>
      <vt:lpstr>Times New Roman</vt:lpstr>
      <vt:lpstr>Calibri</vt:lpstr>
      <vt:lpstr>等线</vt:lpstr>
      <vt:lpstr>quote-cjk-patch</vt:lpstr>
      <vt:lpstr>JetBrains Mono</vt:lpstr>
      <vt:lpstr>Arial</vt:lpstr>
      <vt:lpstr>思源黑体 CN Normal</vt:lpstr>
      <vt:lpstr>Arial Unicode MS</vt:lpstr>
      <vt:lpstr>思源黑体 CN Medium</vt:lpstr>
      <vt:lpstr>Thanatos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汇报完毕！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许杰</cp:lastModifiedBy>
  <cp:revision>129</cp:revision>
  <dcterms:created xsi:type="dcterms:W3CDTF">2022-08-31T01:17:00Z</dcterms:created>
  <dcterms:modified xsi:type="dcterms:W3CDTF">2026-04-20T05:18:16Z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47A5E61344E84213AC209241C1DD1BC6_13</vt:lpwstr>
  </property>
</Properties>
</file>